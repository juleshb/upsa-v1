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the purpose: this deck explains the parent and guardian phone, not the operator workspace. The phone is a calm bank screen: one balance, a few actions, and the children linked to this account.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six jobs are the parent module. Stress that self-registration cannot create a school user or an operator. Those accounts are seeded, not opened from the phone.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visual system matches the product: Midnight, Forward Aqua, Open Sky, and a paper wash. Liquid glass means frosted cards over soft color orbs, not a new brand. The layout is a bank home: one figure, three actions, then the children.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Registration used to accept a role. That is closed. A person can only become a parent, and only after ticking parental consent. If account setup fails, the half-created user is removed.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Rwanda’s data-protection framework treats children’s data with extra care and looks for parental-responsibility consent. The app enforces that: without an active consent, the family payload withholds students, invoices, payments, and receipts. The school directory used for linking is not the child’s record.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three steps. The first card is what the platform already holds. The second is the 16-digit entry. The third is review and submit. Status values the parent can see are Not submitted, Pending review, Verified, or Rejected. Verified is not a self-serve button.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Show the search. Name and school code both work. The check is the selected state. Nothing is pre-selected, so the parent has to choose. A search with no match says so.</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lookup requires the same parental consent as linking. It returns the school record for that number at the chosen school: enrolment and fees, not a national ID. The name used to link comes from that record, so the parent confirms the child they can see.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successful link the app refreshes the family, saves the notice, and navigates to Home. The banner is the immediate confirmation. Notices keeps the record. The highlighted row is the child whose number was just linked.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Outstanding fees are the sum of open invoices. Activity lists receipts and payments. Payment rows carry the architecture the platform already uses: flow code, rail, and corridor. Parents can start a payment on an approved rail. They cannot refund or reverse. Uganda, Kenya, Burundi, South Sudan, and DRC are visible as planned and are rejected until those corridors open.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Unread means the notice has no read time. Opening the list marks the ones on screen as read. New notices are pushed on an open connection and also refreshed on a short poll, so the badge moves while the parent is looking at Home. Examples are a completed student link and a fee receipt.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on the boundary. The phone is the parent’s account: consent, identity, contact, linking, preferences, fees, receipts, and notices. Operators still verify identity, refund, reverse, and run the rail catalog on the web workspace.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595360" y="-1463040"/>
            <a:ext cx="4754880" cy="4754880"/>
          </a:xfrm>
          <a:prstGeom prst="ellipse">
            <a:avLst/>
          </a:prstGeom>
          <a:solidFill>
            <a:srgbClr val="18D6B4">
              <a:alpha val="2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45920" y="4206240"/>
            <a:ext cx="4206240" cy="4206240"/>
          </a:xfrm>
          <a:prstGeom prst="ellipse">
            <a:avLst/>
          </a:prstGeom>
          <a:solidFill>
            <a:srgbClr val="092B3C">
              <a:alpha val="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ogo.png"/>
          <p:cNvPicPr>
            <a:picLocks noChangeAspect="1"/>
          </p:cNvPicPr>
          <p:nvPr/>
        </p:nvPicPr>
        <p:blipFill>
          <a:blip r:embed="rId2"/>
          <a:stretch>
            <a:fillRect/>
          </a:stretch>
        </p:blipFill>
        <p:spPr>
          <a:xfrm>
            <a:off x="548640" y="384048"/>
            <a:ext cx="2880360" cy="726352"/>
          </a:xfrm>
          <a:prstGeom prst="rect">
            <a:avLst/>
          </a:prstGeom>
        </p:spPr>
      </p:pic>
      <p:sp>
        <p:nvSpPr>
          <p:cNvPr id="6" name="TextBox 5"/>
          <p:cNvSpPr txBox="1"/>
          <p:nvPr/>
        </p:nvSpPr>
        <p:spPr>
          <a:xfrm>
            <a:off x="566928" y="1554480"/>
            <a:ext cx="7315200" cy="292608"/>
          </a:xfrm>
          <a:prstGeom prst="rect">
            <a:avLst/>
          </a:prstGeom>
          <a:noFill/>
        </p:spPr>
        <p:txBody>
          <a:bodyPr wrap="square" lIns="0" rIns="0" tIns="0" bIns="0"/>
          <a:lstStyle/>
          <a:p>
            <a:pPr algn="l">
              <a:spcAft>
                <a:spcPts val="0"/>
              </a:spcAft>
            </a:pPr>
            <a:r>
              <a:rPr sz="1400" b="1">
                <a:solidFill>
                  <a:srgbClr val="18D6B4"/>
                </a:solidFill>
                <a:latin typeface="Calibri"/>
              </a:rPr>
              <a:t>PARENT &amp; GUARDIAN</a:t>
            </a:r>
          </a:p>
        </p:txBody>
      </p:sp>
      <p:sp>
        <p:nvSpPr>
          <p:cNvPr id="7" name="TextBox 6"/>
          <p:cNvSpPr txBox="1"/>
          <p:nvPr/>
        </p:nvSpPr>
        <p:spPr>
          <a:xfrm>
            <a:off x="530352" y="1874519"/>
            <a:ext cx="6766560" cy="1645920"/>
          </a:xfrm>
          <a:prstGeom prst="rect">
            <a:avLst/>
          </a:prstGeom>
          <a:noFill/>
        </p:spPr>
        <p:txBody>
          <a:bodyPr wrap="square" lIns="0" rIns="0" tIns="0" bIns="0"/>
          <a:lstStyle/>
          <a:p>
            <a:pPr algn="l">
              <a:spcAft>
                <a:spcPts val="0"/>
              </a:spcAft>
            </a:pPr>
            <a:r>
              <a:rPr sz="4400" b="1">
                <a:solidFill>
                  <a:srgbClr val="092B3C"/>
                </a:solidFill>
                <a:latin typeface="Calibri"/>
              </a:rPr>
              <a:t>What the mobile</a:t>
            </a:r>
          </a:p>
          <a:p>
            <a:pPr algn="l">
              <a:spcAft>
                <a:spcPts val="0"/>
              </a:spcAft>
            </a:pPr>
            <a:r>
              <a:rPr sz="4400" b="1">
                <a:solidFill>
                  <a:srgbClr val="092B3C"/>
                </a:solidFill>
                <a:latin typeface="Calibri"/>
              </a:rPr>
              <a:t>app now does</a:t>
            </a:r>
          </a:p>
        </p:txBody>
      </p:sp>
      <p:sp>
        <p:nvSpPr>
          <p:cNvPr id="8" name="TextBox 7"/>
          <p:cNvSpPr txBox="1"/>
          <p:nvPr/>
        </p:nvSpPr>
        <p:spPr>
          <a:xfrm>
            <a:off x="566928" y="3794760"/>
            <a:ext cx="6583680" cy="731520"/>
          </a:xfrm>
          <a:prstGeom prst="rect">
            <a:avLst/>
          </a:prstGeom>
          <a:noFill/>
        </p:spPr>
        <p:txBody>
          <a:bodyPr wrap="square" lIns="0" rIns="0" tIns="0" bIns="0"/>
          <a:lstStyle/>
          <a:p>
            <a:pPr algn="l">
              <a:spcAft>
                <a:spcPts val="0"/>
              </a:spcAft>
            </a:pPr>
            <a:r>
              <a:rPr sz="1600" b="0">
                <a:solidFill>
                  <a:srgbClr val="5E7482"/>
                </a:solidFill>
                <a:latin typeface="Calibri"/>
              </a:rPr>
              <a:t>A sample walk-through of Module 2 on the parent phone:</a:t>
            </a:r>
          </a:p>
          <a:p>
            <a:pPr algn="l">
              <a:spcAft>
                <a:spcPts val="0"/>
              </a:spcAft>
            </a:pPr>
            <a:r>
              <a:rPr sz="1600" b="0">
                <a:solidFill>
                  <a:srgbClr val="5E7482"/>
                </a:solidFill>
                <a:latin typeface="Calibri"/>
              </a:rPr>
              <a:t>who can open an account, how a child is linked, and how notices stay current.</a:t>
            </a:r>
          </a:p>
        </p:txBody>
      </p:sp>
      <p:sp>
        <p:nvSpPr>
          <p:cNvPr id="9" name="Rounded Rectangle 8"/>
          <p:cNvSpPr/>
          <p:nvPr/>
        </p:nvSpPr>
        <p:spPr>
          <a:xfrm>
            <a:off x="566928" y="4800600"/>
            <a:ext cx="1005840" cy="384048"/>
          </a:xfrm>
          <a:prstGeom prst="roundRect">
            <a:avLst>
              <a:gd name="adj" fmla="val 47619"/>
            </a:avLst>
          </a:prstGeom>
          <a:solidFill>
            <a:srgbClr val="FFFFFF">
              <a:alpha val="80000"/>
            </a:srgbClr>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66928" y="4864608"/>
            <a:ext cx="1005840" cy="274320"/>
          </a:xfrm>
          <a:prstGeom prst="rect">
            <a:avLst/>
          </a:prstGeom>
          <a:noFill/>
        </p:spPr>
        <p:txBody>
          <a:bodyPr wrap="square" lIns="0" rIns="0" tIns="0" bIns="0"/>
          <a:lstStyle/>
          <a:p>
            <a:pPr algn="ctr">
              <a:spcAft>
                <a:spcPts val="0"/>
              </a:spcAft>
            </a:pPr>
            <a:r>
              <a:rPr sz="1300" b="1">
                <a:solidFill>
                  <a:srgbClr val="092B3C"/>
                </a:solidFill>
                <a:latin typeface="Calibri"/>
              </a:rPr>
              <a:t>Register</a:t>
            </a:r>
          </a:p>
        </p:txBody>
      </p:sp>
      <p:sp>
        <p:nvSpPr>
          <p:cNvPr id="11" name="Rounded Rectangle 10"/>
          <p:cNvSpPr/>
          <p:nvPr/>
        </p:nvSpPr>
        <p:spPr>
          <a:xfrm>
            <a:off x="1682496" y="4800600"/>
            <a:ext cx="1106424" cy="384048"/>
          </a:xfrm>
          <a:prstGeom prst="roundRect">
            <a:avLst>
              <a:gd name="adj" fmla="val 47619"/>
            </a:avLst>
          </a:prstGeom>
          <a:solidFill>
            <a:srgbClr val="FFFFFF">
              <a:alpha val="80000"/>
            </a:srgbClr>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682496" y="4864608"/>
            <a:ext cx="1106424" cy="274320"/>
          </a:xfrm>
          <a:prstGeom prst="rect">
            <a:avLst/>
          </a:prstGeom>
          <a:noFill/>
        </p:spPr>
        <p:txBody>
          <a:bodyPr wrap="square" lIns="0" rIns="0" tIns="0" bIns="0"/>
          <a:lstStyle/>
          <a:p>
            <a:pPr algn="ctr">
              <a:spcAft>
                <a:spcPts val="0"/>
              </a:spcAft>
            </a:pPr>
            <a:r>
              <a:rPr sz="1300" b="1">
                <a:solidFill>
                  <a:srgbClr val="092B3C"/>
                </a:solidFill>
                <a:latin typeface="Calibri"/>
              </a:rPr>
              <a:t>Authorize</a:t>
            </a:r>
          </a:p>
        </p:txBody>
      </p:sp>
      <p:sp>
        <p:nvSpPr>
          <p:cNvPr id="13" name="Rounded Rectangle 12"/>
          <p:cNvSpPr/>
          <p:nvPr/>
        </p:nvSpPr>
        <p:spPr>
          <a:xfrm>
            <a:off x="2898648" y="4800600"/>
            <a:ext cx="804672" cy="384048"/>
          </a:xfrm>
          <a:prstGeom prst="roundRect">
            <a:avLst>
              <a:gd name="adj" fmla="val 47619"/>
            </a:avLst>
          </a:prstGeom>
          <a:solidFill>
            <a:srgbClr val="FFFFFF">
              <a:alpha val="80000"/>
            </a:srgbClr>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898648" y="4864608"/>
            <a:ext cx="804672" cy="274320"/>
          </a:xfrm>
          <a:prstGeom prst="rect">
            <a:avLst/>
          </a:prstGeom>
          <a:noFill/>
        </p:spPr>
        <p:txBody>
          <a:bodyPr wrap="square" lIns="0" rIns="0" tIns="0" bIns="0"/>
          <a:lstStyle/>
          <a:p>
            <a:pPr algn="ctr">
              <a:spcAft>
                <a:spcPts val="0"/>
              </a:spcAft>
            </a:pPr>
            <a:r>
              <a:rPr sz="1300" b="1">
                <a:solidFill>
                  <a:srgbClr val="092B3C"/>
                </a:solidFill>
                <a:latin typeface="Calibri"/>
              </a:rPr>
              <a:t>Verify</a:t>
            </a:r>
          </a:p>
        </p:txBody>
      </p:sp>
      <p:sp>
        <p:nvSpPr>
          <p:cNvPr id="15" name="Rounded Rectangle 14"/>
          <p:cNvSpPr/>
          <p:nvPr/>
        </p:nvSpPr>
        <p:spPr>
          <a:xfrm>
            <a:off x="3813048" y="4800600"/>
            <a:ext cx="1609344" cy="384048"/>
          </a:xfrm>
          <a:prstGeom prst="roundRect">
            <a:avLst>
              <a:gd name="adj" fmla="val 47619"/>
            </a:avLst>
          </a:prstGeom>
          <a:solidFill>
            <a:srgbClr val="FFFFFF">
              <a:alpha val="80000"/>
            </a:srgbClr>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813048" y="4864608"/>
            <a:ext cx="1609344" cy="274320"/>
          </a:xfrm>
          <a:prstGeom prst="rect">
            <a:avLst/>
          </a:prstGeom>
          <a:noFill/>
        </p:spPr>
        <p:txBody>
          <a:bodyPr wrap="square" lIns="0" rIns="0" tIns="0" bIns="0"/>
          <a:lstStyle/>
          <a:p>
            <a:pPr algn="ctr">
              <a:spcAft>
                <a:spcPts val="0"/>
              </a:spcAft>
            </a:pPr>
            <a:r>
              <a:rPr sz="1300" b="1">
                <a:solidFill>
                  <a:srgbClr val="092B3C"/>
                </a:solidFill>
                <a:latin typeface="Calibri"/>
              </a:rPr>
              <a:t>Link a student</a:t>
            </a:r>
          </a:p>
        </p:txBody>
      </p:sp>
      <p:sp>
        <p:nvSpPr>
          <p:cNvPr id="17" name="Rounded Rectangle 16"/>
          <p:cNvSpPr/>
          <p:nvPr/>
        </p:nvSpPr>
        <p:spPr>
          <a:xfrm>
            <a:off x="5532120" y="4800600"/>
            <a:ext cx="1709928" cy="384048"/>
          </a:xfrm>
          <a:prstGeom prst="roundRect">
            <a:avLst>
              <a:gd name="adj" fmla="val 47619"/>
            </a:avLst>
          </a:prstGeom>
          <a:solidFill>
            <a:srgbClr val="FFFFFF">
              <a:alpha val="80000"/>
            </a:srgbClr>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532120" y="4864608"/>
            <a:ext cx="1709928" cy="274320"/>
          </a:xfrm>
          <a:prstGeom prst="rect">
            <a:avLst/>
          </a:prstGeom>
          <a:noFill/>
        </p:spPr>
        <p:txBody>
          <a:bodyPr wrap="square" lIns="0" rIns="0" tIns="0" bIns="0"/>
          <a:lstStyle/>
          <a:p>
            <a:pPr algn="ctr">
              <a:spcAft>
                <a:spcPts val="0"/>
              </a:spcAft>
            </a:pPr>
            <a:r>
              <a:rPr sz="1300" b="1">
                <a:solidFill>
                  <a:srgbClr val="092B3C"/>
                </a:solidFill>
                <a:latin typeface="Calibri"/>
              </a:rPr>
              <a:t>Fees &amp; receipts</a:t>
            </a:r>
          </a:p>
        </p:txBody>
      </p:sp>
      <p:sp>
        <p:nvSpPr>
          <p:cNvPr id="19" name="Rounded Rectangle 18"/>
          <p:cNvSpPr/>
          <p:nvPr/>
        </p:nvSpPr>
        <p:spPr>
          <a:xfrm>
            <a:off x="7351776" y="4800600"/>
            <a:ext cx="905256" cy="384048"/>
          </a:xfrm>
          <a:prstGeom prst="roundRect">
            <a:avLst>
              <a:gd name="adj" fmla="val 47619"/>
            </a:avLst>
          </a:prstGeom>
          <a:solidFill>
            <a:srgbClr val="FFFFFF">
              <a:alpha val="80000"/>
            </a:srgbClr>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51776" y="4864608"/>
            <a:ext cx="905256" cy="274320"/>
          </a:xfrm>
          <a:prstGeom prst="rect">
            <a:avLst/>
          </a:prstGeom>
          <a:noFill/>
        </p:spPr>
        <p:txBody>
          <a:bodyPr wrap="square" lIns="0" rIns="0" tIns="0" bIns="0"/>
          <a:lstStyle/>
          <a:p>
            <a:pPr algn="ctr">
              <a:spcAft>
                <a:spcPts val="0"/>
              </a:spcAft>
            </a:pPr>
            <a:r>
              <a:rPr sz="1300" b="1">
                <a:solidFill>
                  <a:srgbClr val="092B3C"/>
                </a:solidFill>
                <a:latin typeface="Calibri"/>
              </a:rPr>
              <a:t>Notices</a:t>
            </a:r>
          </a:p>
        </p:txBody>
      </p:sp>
      <p:sp>
        <p:nvSpPr>
          <p:cNvPr id="21" name="Rounded Rectangle 20"/>
          <p:cNvSpPr/>
          <p:nvPr/>
        </p:nvSpPr>
        <p:spPr>
          <a:xfrm>
            <a:off x="9006840" y="640080"/>
            <a:ext cx="2606040" cy="5532120"/>
          </a:xfrm>
          <a:prstGeom prst="roundRect">
            <a:avLst>
              <a:gd name="adj" fmla="val 9824"/>
            </a:avLst>
          </a:prstGeom>
          <a:solidFill>
            <a:srgbClr val="FFFFFF">
              <a:alpha val="82000"/>
            </a:srgbClr>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10053828" y="749808"/>
            <a:ext cx="512064" cy="54864"/>
          </a:xfrm>
          <a:prstGeom prst="roundRect">
            <a:avLst>
              <a:gd name="adj" fmla="val 50000"/>
            </a:avLst>
          </a:prstGeom>
          <a:solidFill>
            <a:srgbClr val="E3EE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9153144" y="932688"/>
            <a:ext cx="2313432" cy="1234440"/>
          </a:xfrm>
          <a:prstGeom prst="roundRect">
            <a:avLst>
              <a:gd name="adj" fmla="val 11851"/>
            </a:avLst>
          </a:prstGeom>
          <a:solidFill>
            <a:srgbClr val="09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281160" y="1042416"/>
            <a:ext cx="2057400" cy="219456"/>
          </a:xfrm>
          <a:prstGeom prst="rect">
            <a:avLst/>
          </a:prstGeom>
          <a:noFill/>
        </p:spPr>
        <p:txBody>
          <a:bodyPr wrap="square" lIns="0" rIns="0" tIns="0" bIns="0"/>
          <a:lstStyle/>
          <a:p>
            <a:pPr algn="l">
              <a:spcAft>
                <a:spcPts val="0"/>
              </a:spcAft>
            </a:pPr>
            <a:r>
              <a:rPr sz="1100" b="1">
                <a:solidFill>
                  <a:srgbClr val="18D6B4"/>
                </a:solidFill>
                <a:latin typeface="Calibri"/>
              </a:rPr>
              <a:t>Fees outstanding</a:t>
            </a:r>
          </a:p>
        </p:txBody>
      </p:sp>
      <p:sp>
        <p:nvSpPr>
          <p:cNvPr id="25" name="TextBox 24"/>
          <p:cNvSpPr txBox="1"/>
          <p:nvPr/>
        </p:nvSpPr>
        <p:spPr>
          <a:xfrm>
            <a:off x="9281160" y="1298448"/>
            <a:ext cx="2057400" cy="329184"/>
          </a:xfrm>
          <a:prstGeom prst="rect">
            <a:avLst/>
          </a:prstGeom>
          <a:noFill/>
        </p:spPr>
        <p:txBody>
          <a:bodyPr wrap="square" lIns="0" rIns="0" tIns="0" bIns="0"/>
          <a:lstStyle/>
          <a:p>
            <a:pPr algn="l">
              <a:spcAft>
                <a:spcPts val="0"/>
              </a:spcAft>
            </a:pPr>
            <a:r>
              <a:rPr sz="2000" b="1">
                <a:solidFill>
                  <a:srgbClr val="FFFFFF"/>
                </a:solidFill>
                <a:latin typeface="Calibri"/>
              </a:rPr>
              <a:t>One balance</a:t>
            </a:r>
          </a:p>
        </p:txBody>
      </p:sp>
      <p:sp>
        <p:nvSpPr>
          <p:cNvPr id="26" name="TextBox 25"/>
          <p:cNvSpPr txBox="1"/>
          <p:nvPr/>
        </p:nvSpPr>
        <p:spPr>
          <a:xfrm>
            <a:off x="9281160" y="1737360"/>
            <a:ext cx="2057400" cy="292608"/>
          </a:xfrm>
          <a:prstGeom prst="rect">
            <a:avLst/>
          </a:prstGeom>
          <a:noFill/>
        </p:spPr>
        <p:txBody>
          <a:bodyPr wrap="square" lIns="0" rIns="0" tIns="0" bIns="0"/>
          <a:lstStyle/>
          <a:p>
            <a:pPr algn="l">
              <a:spcAft>
                <a:spcPts val="0"/>
              </a:spcAft>
            </a:pPr>
            <a:r>
              <a:rPr sz="1100" b="0">
                <a:solidFill>
                  <a:srgbClr val="C5D5DC"/>
                </a:solidFill>
                <a:latin typeface="Calibri"/>
              </a:rPr>
              <a:t>Then the children on this account</a:t>
            </a:r>
          </a:p>
        </p:txBody>
      </p:sp>
      <p:sp>
        <p:nvSpPr>
          <p:cNvPr id="27" name="TextBox 26"/>
          <p:cNvSpPr txBox="1"/>
          <p:nvPr/>
        </p:nvSpPr>
        <p:spPr>
          <a:xfrm>
            <a:off x="9153144" y="2350008"/>
            <a:ext cx="2313432" cy="274320"/>
          </a:xfrm>
          <a:prstGeom prst="rect">
            <a:avLst/>
          </a:prstGeom>
          <a:noFill/>
        </p:spPr>
        <p:txBody>
          <a:bodyPr wrap="square" lIns="0" rIns="0" tIns="0" bIns="0"/>
          <a:lstStyle/>
          <a:p>
            <a:pPr algn="ctr">
              <a:spcAft>
                <a:spcPts val="0"/>
              </a:spcAft>
            </a:pPr>
            <a:r>
              <a:rPr sz="1200" b="1">
                <a:solidFill>
                  <a:srgbClr val="092B3C"/>
                </a:solidFill>
                <a:latin typeface="Calibri"/>
              </a:rPr>
              <a:t>Pay     Activity     Link</a:t>
            </a:r>
          </a:p>
        </p:txBody>
      </p:sp>
      <p:sp>
        <p:nvSpPr>
          <p:cNvPr id="28" name="Rounded Rectangle 27"/>
          <p:cNvSpPr/>
          <p:nvPr/>
        </p:nvSpPr>
        <p:spPr>
          <a:xfrm>
            <a:off x="9153144" y="2715768"/>
            <a:ext cx="2313432" cy="585216"/>
          </a:xfrm>
          <a:prstGeom prst="roundRect">
            <a:avLst>
              <a:gd name="adj" fmla="val 18750"/>
            </a:avLst>
          </a:prstGeom>
          <a:solidFill>
            <a:srgbClr val="FFFFFF">
              <a:alpha val="90000"/>
            </a:srgbClr>
          </a:solidFill>
          <a:ln w="9525">
            <a:solidFill>
              <a:srgbClr val="E3EE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262872" y="2788920"/>
            <a:ext cx="2093976" cy="237744"/>
          </a:xfrm>
          <a:prstGeom prst="rect">
            <a:avLst/>
          </a:prstGeom>
          <a:noFill/>
        </p:spPr>
        <p:txBody>
          <a:bodyPr wrap="square" lIns="0" rIns="0" tIns="0" bIns="0"/>
          <a:lstStyle/>
          <a:p>
            <a:pPr algn="l">
              <a:spcAft>
                <a:spcPts val="0"/>
              </a:spcAft>
            </a:pPr>
            <a:r>
              <a:rPr sz="1200" b="1">
                <a:solidFill>
                  <a:srgbClr val="092B3C"/>
                </a:solidFill>
                <a:latin typeface="Calibri"/>
              </a:rPr>
              <a:t>Aline Uwase</a:t>
            </a:r>
          </a:p>
        </p:txBody>
      </p:sp>
      <p:sp>
        <p:nvSpPr>
          <p:cNvPr id="30" name="TextBox 29"/>
          <p:cNvSpPr txBox="1"/>
          <p:nvPr/>
        </p:nvSpPr>
        <p:spPr>
          <a:xfrm>
            <a:off x="9262872" y="3008376"/>
            <a:ext cx="2093976" cy="201168"/>
          </a:xfrm>
          <a:prstGeom prst="rect">
            <a:avLst/>
          </a:prstGeom>
          <a:noFill/>
        </p:spPr>
        <p:txBody>
          <a:bodyPr wrap="square" lIns="0" rIns="0" tIns="0" bIns="0"/>
          <a:lstStyle/>
          <a:p>
            <a:pPr algn="l">
              <a:spcAft>
                <a:spcPts val="0"/>
              </a:spcAft>
            </a:pPr>
            <a:r>
              <a:rPr sz="1000" b="0">
                <a:solidFill>
                  <a:srgbClr val="5E7482"/>
                </a:solidFill>
                <a:latin typeface="Calibri"/>
              </a:rPr>
              <a:t>S3  ·  Example Private School</a:t>
            </a:r>
          </a:p>
        </p:txBody>
      </p:sp>
      <p:sp>
        <p:nvSpPr>
          <p:cNvPr id="31" name="Rounded Rectangle 30"/>
          <p:cNvSpPr/>
          <p:nvPr/>
        </p:nvSpPr>
        <p:spPr>
          <a:xfrm>
            <a:off x="9153144" y="3374136"/>
            <a:ext cx="2313432" cy="585216"/>
          </a:xfrm>
          <a:prstGeom prst="roundRect">
            <a:avLst>
              <a:gd name="adj" fmla="val 18750"/>
            </a:avLst>
          </a:prstGeom>
          <a:solidFill>
            <a:srgbClr val="FFFFFF">
              <a:alpha val="90000"/>
            </a:srgbClr>
          </a:solidFill>
          <a:ln w="9525">
            <a:solidFill>
              <a:srgbClr val="E3EE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262872" y="3447288"/>
            <a:ext cx="2093976" cy="237744"/>
          </a:xfrm>
          <a:prstGeom prst="rect">
            <a:avLst/>
          </a:prstGeom>
          <a:noFill/>
        </p:spPr>
        <p:txBody>
          <a:bodyPr wrap="square" lIns="0" rIns="0" tIns="0" bIns="0"/>
          <a:lstStyle/>
          <a:p>
            <a:pPr algn="l">
              <a:spcAft>
                <a:spcPts val="0"/>
              </a:spcAft>
            </a:pPr>
            <a:r>
              <a:rPr sz="1200" b="1">
                <a:solidFill>
                  <a:srgbClr val="092B3C"/>
                </a:solidFill>
                <a:latin typeface="Calibri"/>
              </a:rPr>
              <a:t>Eric Niyonzima</a:t>
            </a:r>
          </a:p>
        </p:txBody>
      </p:sp>
      <p:sp>
        <p:nvSpPr>
          <p:cNvPr id="33" name="TextBox 32"/>
          <p:cNvSpPr txBox="1"/>
          <p:nvPr/>
        </p:nvSpPr>
        <p:spPr>
          <a:xfrm>
            <a:off x="9262872" y="3666744"/>
            <a:ext cx="2093976" cy="201168"/>
          </a:xfrm>
          <a:prstGeom prst="rect">
            <a:avLst/>
          </a:prstGeom>
          <a:noFill/>
        </p:spPr>
        <p:txBody>
          <a:bodyPr wrap="square" lIns="0" rIns="0" tIns="0" bIns="0"/>
          <a:lstStyle/>
          <a:p>
            <a:pPr algn="l">
              <a:spcAft>
                <a:spcPts val="0"/>
              </a:spcAft>
            </a:pPr>
            <a:r>
              <a:rPr sz="1000" b="0">
                <a:solidFill>
                  <a:srgbClr val="5E7482"/>
                </a:solidFill>
                <a:latin typeface="Calibri"/>
              </a:rPr>
              <a:t>S2  ·  Example Private School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595360" y="-1463040"/>
            <a:ext cx="4754880" cy="4754880"/>
          </a:xfrm>
          <a:prstGeom prst="ellipse">
            <a:avLst/>
          </a:prstGeom>
          <a:solidFill>
            <a:srgbClr val="18D6B4">
              <a:alpha val="2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45920" y="4206240"/>
            <a:ext cx="4206240" cy="4206240"/>
          </a:xfrm>
          <a:prstGeom prst="ellipse">
            <a:avLst/>
          </a:prstGeom>
          <a:solidFill>
            <a:srgbClr val="092B3C">
              <a:alpha val="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292608"/>
            <a:ext cx="7772400" cy="256032"/>
          </a:xfrm>
          <a:prstGeom prst="rect">
            <a:avLst/>
          </a:prstGeom>
          <a:noFill/>
        </p:spPr>
        <p:txBody>
          <a:bodyPr wrap="square" lIns="0" rIns="0" tIns="0" bIns="0"/>
          <a:lstStyle/>
          <a:p>
            <a:pPr algn="l">
              <a:spcAft>
                <a:spcPts val="0"/>
              </a:spcAft>
            </a:pPr>
            <a:r>
              <a:rPr sz="1200" b="1">
                <a:solidFill>
                  <a:srgbClr val="18D6B4"/>
                </a:solidFill>
                <a:latin typeface="Calibri"/>
              </a:rPr>
              <a:t>MODULE 2</a:t>
            </a:r>
          </a:p>
        </p:txBody>
      </p:sp>
      <p:sp>
        <p:nvSpPr>
          <p:cNvPr id="6" name="TextBox 5"/>
          <p:cNvSpPr txBox="1"/>
          <p:nvPr/>
        </p:nvSpPr>
        <p:spPr>
          <a:xfrm>
            <a:off x="502920" y="530352"/>
            <a:ext cx="8046720" cy="502920"/>
          </a:xfrm>
          <a:prstGeom prst="rect">
            <a:avLst/>
          </a:prstGeom>
          <a:noFill/>
        </p:spPr>
        <p:txBody>
          <a:bodyPr wrap="square" lIns="0" rIns="0" tIns="0" bIns="0"/>
          <a:lstStyle/>
          <a:p>
            <a:pPr algn="l">
              <a:spcAft>
                <a:spcPts val="0"/>
              </a:spcAft>
            </a:pPr>
            <a:r>
              <a:rPr sz="3000" b="1">
                <a:solidFill>
                  <a:srgbClr val="092B3C"/>
                </a:solidFill>
                <a:latin typeface="Calibri"/>
              </a:rPr>
              <a:t>Six jobs, one parent account</a:t>
            </a:r>
          </a:p>
        </p:txBody>
      </p:sp>
      <p:sp>
        <p:nvSpPr>
          <p:cNvPr id="7" name="TextBox 6"/>
          <p:cNvSpPr txBox="1"/>
          <p:nvPr/>
        </p:nvSpPr>
        <p:spPr>
          <a:xfrm>
            <a:off x="502920" y="1078992"/>
            <a:ext cx="7863840" cy="640080"/>
          </a:xfrm>
          <a:prstGeom prst="rect">
            <a:avLst/>
          </a:prstGeom>
          <a:noFill/>
        </p:spPr>
        <p:txBody>
          <a:bodyPr wrap="square" lIns="0" rIns="0" tIns="0" bIns="0"/>
          <a:lstStyle/>
          <a:p>
            <a:pPr algn="l">
              <a:spcAft>
                <a:spcPts val="0"/>
              </a:spcAft>
            </a:pPr>
            <a:r>
              <a:rPr sz="1500" b="0">
                <a:solidFill>
                  <a:srgbClr val="5E7482"/>
                </a:solidFill>
                <a:latin typeface="Calibri"/>
              </a:rPr>
              <a:t>The phone is only for a parent or guardian. School staff and operators stay on the web workspace.</a:t>
            </a:r>
          </a:p>
        </p:txBody>
      </p:sp>
      <p:sp>
        <p:nvSpPr>
          <p:cNvPr id="8" name="Rounded Rectangle 7"/>
          <p:cNvSpPr/>
          <p:nvPr/>
        </p:nvSpPr>
        <p:spPr>
          <a:xfrm>
            <a:off x="502920" y="1965960"/>
            <a:ext cx="3611880" cy="1874519"/>
          </a:xfrm>
          <a:prstGeom prst="roundRect">
            <a:avLst>
              <a:gd name="adj" fmla="val 7804"/>
            </a:avLst>
          </a:prstGeom>
          <a:solidFill>
            <a:srgbClr val="FFFFFF">
              <a:alpha val="80000"/>
            </a:srgbClr>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85800" y="2148840"/>
            <a:ext cx="384048" cy="384048"/>
          </a:xfrm>
          <a:prstGeom prst="roundRect">
            <a:avLst>
              <a:gd name="adj" fmla="val 47619"/>
            </a:avLst>
          </a:prstGeom>
          <a:solidFill>
            <a:srgbClr val="C7F7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2203704"/>
            <a:ext cx="384048" cy="292608"/>
          </a:xfrm>
          <a:prstGeom prst="rect">
            <a:avLst/>
          </a:prstGeom>
          <a:noFill/>
        </p:spPr>
        <p:txBody>
          <a:bodyPr wrap="square" lIns="0" rIns="0" tIns="0" bIns="0"/>
          <a:lstStyle/>
          <a:p>
            <a:pPr algn="ctr">
              <a:spcAft>
                <a:spcPts val="0"/>
              </a:spcAft>
            </a:pPr>
            <a:r>
              <a:rPr sz="1400" b="1">
                <a:solidFill>
                  <a:srgbClr val="092B3C"/>
                </a:solidFill>
                <a:latin typeface="Calibri"/>
              </a:rPr>
              <a:t>1</a:t>
            </a:r>
          </a:p>
        </p:txBody>
      </p:sp>
      <p:sp>
        <p:nvSpPr>
          <p:cNvPr id="11" name="TextBox 10"/>
          <p:cNvSpPr txBox="1"/>
          <p:nvPr/>
        </p:nvSpPr>
        <p:spPr>
          <a:xfrm>
            <a:off x="1179576" y="2203704"/>
            <a:ext cx="2651760" cy="310896"/>
          </a:xfrm>
          <a:prstGeom prst="rect">
            <a:avLst/>
          </a:prstGeom>
          <a:noFill/>
        </p:spPr>
        <p:txBody>
          <a:bodyPr wrap="square" lIns="0" rIns="0" tIns="0" bIns="0"/>
          <a:lstStyle/>
          <a:p>
            <a:pPr algn="l">
              <a:spcAft>
                <a:spcPts val="0"/>
              </a:spcAft>
            </a:pPr>
            <a:r>
              <a:rPr sz="1800" b="1">
                <a:solidFill>
                  <a:srgbClr val="092B3C"/>
                </a:solidFill>
                <a:latin typeface="Calibri"/>
              </a:rPr>
              <a:t>Register</a:t>
            </a:r>
          </a:p>
        </p:txBody>
      </p:sp>
      <p:sp>
        <p:nvSpPr>
          <p:cNvPr id="12" name="TextBox 11"/>
          <p:cNvSpPr txBox="1"/>
          <p:nvPr/>
        </p:nvSpPr>
        <p:spPr>
          <a:xfrm>
            <a:off x="685800" y="2715768"/>
            <a:ext cx="3246120" cy="960120"/>
          </a:xfrm>
          <a:prstGeom prst="rect">
            <a:avLst/>
          </a:prstGeom>
          <a:noFill/>
        </p:spPr>
        <p:txBody>
          <a:bodyPr wrap="square" lIns="0" rIns="0" tIns="0" bIns="0"/>
          <a:lstStyle/>
          <a:p>
            <a:pPr algn="l">
              <a:spcAft>
                <a:spcPts val="0"/>
              </a:spcAft>
            </a:pPr>
            <a:r>
              <a:rPr sz="1300" b="0">
                <a:solidFill>
                  <a:srgbClr val="5E7482"/>
                </a:solidFill>
                <a:latin typeface="Calibri"/>
              </a:rPr>
              <a:t>A parent opens the account. The role cannot be chosen, and parental-responsibility consent is required.</a:t>
            </a:r>
          </a:p>
        </p:txBody>
      </p:sp>
      <p:sp>
        <p:nvSpPr>
          <p:cNvPr id="13" name="Rounded Rectangle 12"/>
          <p:cNvSpPr/>
          <p:nvPr/>
        </p:nvSpPr>
        <p:spPr>
          <a:xfrm>
            <a:off x="4297680" y="1965960"/>
            <a:ext cx="3611880" cy="1874519"/>
          </a:xfrm>
          <a:prstGeom prst="roundRect">
            <a:avLst>
              <a:gd name="adj" fmla="val 7804"/>
            </a:avLst>
          </a:prstGeom>
          <a:solidFill>
            <a:srgbClr val="FFFFFF">
              <a:alpha val="80000"/>
            </a:srgbClr>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4480560" y="2148840"/>
            <a:ext cx="384048" cy="384048"/>
          </a:xfrm>
          <a:prstGeom prst="roundRect">
            <a:avLst>
              <a:gd name="adj" fmla="val 47619"/>
            </a:avLst>
          </a:prstGeom>
          <a:solidFill>
            <a:srgbClr val="C7F7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80560" y="2203704"/>
            <a:ext cx="384048" cy="292608"/>
          </a:xfrm>
          <a:prstGeom prst="rect">
            <a:avLst/>
          </a:prstGeom>
          <a:noFill/>
        </p:spPr>
        <p:txBody>
          <a:bodyPr wrap="square" lIns="0" rIns="0" tIns="0" bIns="0"/>
          <a:lstStyle/>
          <a:p>
            <a:pPr algn="ctr">
              <a:spcAft>
                <a:spcPts val="0"/>
              </a:spcAft>
            </a:pPr>
            <a:r>
              <a:rPr sz="1400" b="1">
                <a:solidFill>
                  <a:srgbClr val="092B3C"/>
                </a:solidFill>
                <a:latin typeface="Calibri"/>
              </a:rPr>
              <a:t>2</a:t>
            </a:r>
          </a:p>
        </p:txBody>
      </p:sp>
      <p:sp>
        <p:nvSpPr>
          <p:cNvPr id="16" name="TextBox 15"/>
          <p:cNvSpPr txBox="1"/>
          <p:nvPr/>
        </p:nvSpPr>
        <p:spPr>
          <a:xfrm>
            <a:off x="4974336" y="2203704"/>
            <a:ext cx="2651760" cy="310896"/>
          </a:xfrm>
          <a:prstGeom prst="rect">
            <a:avLst/>
          </a:prstGeom>
          <a:noFill/>
        </p:spPr>
        <p:txBody>
          <a:bodyPr wrap="square" lIns="0" rIns="0" tIns="0" bIns="0"/>
          <a:lstStyle/>
          <a:p>
            <a:pPr algn="l">
              <a:spcAft>
                <a:spcPts val="0"/>
              </a:spcAft>
            </a:pPr>
            <a:r>
              <a:rPr sz="1800" b="1">
                <a:solidFill>
                  <a:srgbClr val="092B3C"/>
                </a:solidFill>
                <a:latin typeface="Calibri"/>
              </a:rPr>
              <a:t>Authorize</a:t>
            </a:r>
          </a:p>
        </p:txBody>
      </p:sp>
      <p:sp>
        <p:nvSpPr>
          <p:cNvPr id="17" name="TextBox 16"/>
          <p:cNvSpPr txBox="1"/>
          <p:nvPr/>
        </p:nvSpPr>
        <p:spPr>
          <a:xfrm>
            <a:off x="4480560" y="2715768"/>
            <a:ext cx="3246120" cy="960120"/>
          </a:xfrm>
          <a:prstGeom prst="rect">
            <a:avLst/>
          </a:prstGeom>
          <a:noFill/>
        </p:spPr>
        <p:txBody>
          <a:bodyPr wrap="square" lIns="0" rIns="0" tIns="0" bIns="0"/>
          <a:lstStyle/>
          <a:p>
            <a:pPr algn="l">
              <a:spcAft>
                <a:spcPts val="0"/>
              </a:spcAft>
            </a:pPr>
            <a:r>
              <a:rPr sz="1300" b="0">
                <a:solidFill>
                  <a:srgbClr val="5E7482"/>
                </a:solidFill>
                <a:latin typeface="Calibri"/>
              </a:rPr>
              <a:t>School and fee records for a child stay hidden until that consent is active.</a:t>
            </a:r>
          </a:p>
        </p:txBody>
      </p:sp>
      <p:sp>
        <p:nvSpPr>
          <p:cNvPr id="18" name="Rounded Rectangle 17"/>
          <p:cNvSpPr/>
          <p:nvPr/>
        </p:nvSpPr>
        <p:spPr>
          <a:xfrm>
            <a:off x="8092440" y="1965960"/>
            <a:ext cx="3611880" cy="1874519"/>
          </a:xfrm>
          <a:prstGeom prst="roundRect">
            <a:avLst>
              <a:gd name="adj" fmla="val 7804"/>
            </a:avLst>
          </a:prstGeom>
          <a:solidFill>
            <a:srgbClr val="FFFFFF">
              <a:alpha val="80000"/>
            </a:srgbClr>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75320" y="2148840"/>
            <a:ext cx="384048" cy="384048"/>
          </a:xfrm>
          <a:prstGeom prst="roundRect">
            <a:avLst>
              <a:gd name="adj" fmla="val 47619"/>
            </a:avLst>
          </a:prstGeom>
          <a:solidFill>
            <a:srgbClr val="C7F7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5320" y="2203704"/>
            <a:ext cx="384048" cy="292608"/>
          </a:xfrm>
          <a:prstGeom prst="rect">
            <a:avLst/>
          </a:prstGeom>
          <a:noFill/>
        </p:spPr>
        <p:txBody>
          <a:bodyPr wrap="square" lIns="0" rIns="0" tIns="0" bIns="0"/>
          <a:lstStyle/>
          <a:p>
            <a:pPr algn="ctr">
              <a:spcAft>
                <a:spcPts val="0"/>
              </a:spcAft>
            </a:pPr>
            <a:r>
              <a:rPr sz="1400" b="1">
                <a:solidFill>
                  <a:srgbClr val="092B3C"/>
                </a:solidFill>
                <a:latin typeface="Calibri"/>
              </a:rPr>
              <a:t>3</a:t>
            </a:r>
          </a:p>
        </p:txBody>
      </p:sp>
      <p:sp>
        <p:nvSpPr>
          <p:cNvPr id="21" name="TextBox 20"/>
          <p:cNvSpPr txBox="1"/>
          <p:nvPr/>
        </p:nvSpPr>
        <p:spPr>
          <a:xfrm>
            <a:off x="8769096" y="2203704"/>
            <a:ext cx="2651760" cy="310896"/>
          </a:xfrm>
          <a:prstGeom prst="rect">
            <a:avLst/>
          </a:prstGeom>
          <a:noFill/>
        </p:spPr>
        <p:txBody>
          <a:bodyPr wrap="square" lIns="0" rIns="0" tIns="0" bIns="0"/>
          <a:lstStyle/>
          <a:p>
            <a:pPr algn="l">
              <a:spcAft>
                <a:spcPts val="0"/>
              </a:spcAft>
            </a:pPr>
            <a:r>
              <a:rPr sz="1800" b="1">
                <a:solidFill>
                  <a:srgbClr val="092B3C"/>
                </a:solidFill>
                <a:latin typeface="Calibri"/>
              </a:rPr>
              <a:t>Verify</a:t>
            </a:r>
          </a:p>
        </p:txBody>
      </p:sp>
      <p:sp>
        <p:nvSpPr>
          <p:cNvPr id="22" name="TextBox 21"/>
          <p:cNvSpPr txBox="1"/>
          <p:nvPr/>
        </p:nvSpPr>
        <p:spPr>
          <a:xfrm>
            <a:off x="8275320" y="2715768"/>
            <a:ext cx="3246120" cy="960120"/>
          </a:xfrm>
          <a:prstGeom prst="rect">
            <a:avLst/>
          </a:prstGeom>
          <a:noFill/>
        </p:spPr>
        <p:txBody>
          <a:bodyPr wrap="square" lIns="0" rIns="0" tIns="0" bIns="0"/>
          <a:lstStyle/>
          <a:p>
            <a:pPr algn="l">
              <a:spcAft>
                <a:spcPts val="0"/>
              </a:spcAft>
            </a:pPr>
            <a:r>
              <a:rPr sz="1300" b="0">
                <a:solidFill>
                  <a:srgbClr val="5E7482"/>
                </a:solidFill>
                <a:latin typeface="Calibri"/>
              </a:rPr>
              <a:t>National ID is sent in three steps and stays pending until it is reviewed.</a:t>
            </a:r>
          </a:p>
        </p:txBody>
      </p:sp>
      <p:sp>
        <p:nvSpPr>
          <p:cNvPr id="23" name="Rounded Rectangle 22"/>
          <p:cNvSpPr/>
          <p:nvPr/>
        </p:nvSpPr>
        <p:spPr>
          <a:xfrm>
            <a:off x="502920" y="4023360"/>
            <a:ext cx="3611880" cy="1874519"/>
          </a:xfrm>
          <a:prstGeom prst="roundRect">
            <a:avLst>
              <a:gd name="adj" fmla="val 7804"/>
            </a:avLst>
          </a:prstGeom>
          <a:solidFill>
            <a:srgbClr val="FFFFFF">
              <a:alpha val="80000"/>
            </a:srgbClr>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685800" y="4206240"/>
            <a:ext cx="384048" cy="384048"/>
          </a:xfrm>
          <a:prstGeom prst="roundRect">
            <a:avLst>
              <a:gd name="adj" fmla="val 47619"/>
            </a:avLst>
          </a:prstGeom>
          <a:solidFill>
            <a:srgbClr val="C7F7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4261104"/>
            <a:ext cx="384048" cy="292608"/>
          </a:xfrm>
          <a:prstGeom prst="rect">
            <a:avLst/>
          </a:prstGeom>
          <a:noFill/>
        </p:spPr>
        <p:txBody>
          <a:bodyPr wrap="square" lIns="0" rIns="0" tIns="0" bIns="0"/>
          <a:lstStyle/>
          <a:p>
            <a:pPr algn="ctr">
              <a:spcAft>
                <a:spcPts val="0"/>
              </a:spcAft>
            </a:pPr>
            <a:r>
              <a:rPr sz="1400" b="1">
                <a:solidFill>
                  <a:srgbClr val="092B3C"/>
                </a:solidFill>
                <a:latin typeface="Calibri"/>
              </a:rPr>
              <a:t>4</a:t>
            </a:r>
          </a:p>
        </p:txBody>
      </p:sp>
      <p:sp>
        <p:nvSpPr>
          <p:cNvPr id="26" name="TextBox 25"/>
          <p:cNvSpPr txBox="1"/>
          <p:nvPr/>
        </p:nvSpPr>
        <p:spPr>
          <a:xfrm>
            <a:off x="1179576" y="4261104"/>
            <a:ext cx="2651760" cy="310896"/>
          </a:xfrm>
          <a:prstGeom prst="rect">
            <a:avLst/>
          </a:prstGeom>
          <a:noFill/>
        </p:spPr>
        <p:txBody>
          <a:bodyPr wrap="square" lIns="0" rIns="0" tIns="0" bIns="0"/>
          <a:lstStyle/>
          <a:p>
            <a:pPr algn="l">
              <a:spcAft>
                <a:spcPts val="0"/>
              </a:spcAft>
            </a:pPr>
            <a:r>
              <a:rPr sz="1800" b="1">
                <a:solidFill>
                  <a:srgbClr val="092B3C"/>
                </a:solidFill>
                <a:latin typeface="Calibri"/>
              </a:rPr>
              <a:t>Link</a:t>
            </a:r>
          </a:p>
        </p:txBody>
      </p:sp>
      <p:sp>
        <p:nvSpPr>
          <p:cNvPr id="27" name="TextBox 26"/>
          <p:cNvSpPr txBox="1"/>
          <p:nvPr/>
        </p:nvSpPr>
        <p:spPr>
          <a:xfrm>
            <a:off x="685800" y="4773168"/>
            <a:ext cx="3246120" cy="960120"/>
          </a:xfrm>
          <a:prstGeom prst="rect">
            <a:avLst/>
          </a:prstGeom>
          <a:noFill/>
        </p:spPr>
        <p:txBody>
          <a:bodyPr wrap="square" lIns="0" rIns="0" tIns="0" bIns="0"/>
          <a:lstStyle/>
          <a:p>
            <a:pPr algn="l">
              <a:spcAft>
                <a:spcPts val="0"/>
              </a:spcAft>
            </a:pPr>
            <a:r>
              <a:rPr sz="1300" b="0">
                <a:solidFill>
                  <a:srgbClr val="5E7482"/>
                </a:solidFill>
                <a:latin typeface="Calibri"/>
              </a:rPr>
              <a:t>Search the school, enter the student number, and confirm the child before linking.</a:t>
            </a:r>
          </a:p>
        </p:txBody>
      </p:sp>
      <p:sp>
        <p:nvSpPr>
          <p:cNvPr id="28" name="Rounded Rectangle 27"/>
          <p:cNvSpPr/>
          <p:nvPr/>
        </p:nvSpPr>
        <p:spPr>
          <a:xfrm>
            <a:off x="4297680" y="4023360"/>
            <a:ext cx="3611880" cy="1874519"/>
          </a:xfrm>
          <a:prstGeom prst="roundRect">
            <a:avLst>
              <a:gd name="adj" fmla="val 7804"/>
            </a:avLst>
          </a:prstGeom>
          <a:solidFill>
            <a:srgbClr val="FFFFFF">
              <a:alpha val="80000"/>
            </a:srgbClr>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4480560" y="4206240"/>
            <a:ext cx="384048" cy="384048"/>
          </a:xfrm>
          <a:prstGeom prst="roundRect">
            <a:avLst>
              <a:gd name="adj" fmla="val 47619"/>
            </a:avLst>
          </a:prstGeom>
          <a:solidFill>
            <a:srgbClr val="C7F7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480560" y="4261104"/>
            <a:ext cx="384048" cy="292608"/>
          </a:xfrm>
          <a:prstGeom prst="rect">
            <a:avLst/>
          </a:prstGeom>
          <a:noFill/>
        </p:spPr>
        <p:txBody>
          <a:bodyPr wrap="square" lIns="0" rIns="0" tIns="0" bIns="0"/>
          <a:lstStyle/>
          <a:p>
            <a:pPr algn="ctr">
              <a:spcAft>
                <a:spcPts val="0"/>
              </a:spcAft>
            </a:pPr>
            <a:r>
              <a:rPr sz="1400" b="1">
                <a:solidFill>
                  <a:srgbClr val="092B3C"/>
                </a:solidFill>
                <a:latin typeface="Calibri"/>
              </a:rPr>
              <a:t>5</a:t>
            </a:r>
          </a:p>
        </p:txBody>
      </p:sp>
      <p:sp>
        <p:nvSpPr>
          <p:cNvPr id="31" name="TextBox 30"/>
          <p:cNvSpPr txBox="1"/>
          <p:nvPr/>
        </p:nvSpPr>
        <p:spPr>
          <a:xfrm>
            <a:off x="4974336" y="4261104"/>
            <a:ext cx="2651760" cy="310896"/>
          </a:xfrm>
          <a:prstGeom prst="rect">
            <a:avLst/>
          </a:prstGeom>
          <a:noFill/>
        </p:spPr>
        <p:txBody>
          <a:bodyPr wrap="square" lIns="0" rIns="0" tIns="0" bIns="0"/>
          <a:lstStyle/>
          <a:p>
            <a:pPr algn="l">
              <a:spcAft>
                <a:spcPts val="0"/>
              </a:spcAft>
            </a:pPr>
            <a:r>
              <a:rPr sz="1800" b="1">
                <a:solidFill>
                  <a:srgbClr val="092B3C"/>
                </a:solidFill>
                <a:latin typeface="Calibri"/>
              </a:rPr>
              <a:t>See fees</a:t>
            </a:r>
          </a:p>
        </p:txBody>
      </p:sp>
      <p:sp>
        <p:nvSpPr>
          <p:cNvPr id="32" name="TextBox 31"/>
          <p:cNvSpPr txBox="1"/>
          <p:nvPr/>
        </p:nvSpPr>
        <p:spPr>
          <a:xfrm>
            <a:off x="4480560" y="4773168"/>
            <a:ext cx="3246120" cy="960120"/>
          </a:xfrm>
          <a:prstGeom prst="rect">
            <a:avLst/>
          </a:prstGeom>
          <a:noFill/>
        </p:spPr>
        <p:txBody>
          <a:bodyPr wrap="square" lIns="0" rIns="0" tIns="0" bIns="0"/>
          <a:lstStyle/>
          <a:p>
            <a:pPr algn="l">
              <a:spcAft>
                <a:spcPts val="0"/>
              </a:spcAft>
            </a:pPr>
            <a:r>
              <a:rPr sz="1300" b="0">
                <a:solidFill>
                  <a:srgbClr val="5E7482"/>
                </a:solidFill>
                <a:latin typeface="Calibri"/>
              </a:rPr>
              <a:t>Outstanding fees, payment history, and digital receipts sit on Home and Activity.</a:t>
            </a:r>
          </a:p>
        </p:txBody>
      </p:sp>
      <p:sp>
        <p:nvSpPr>
          <p:cNvPr id="33" name="Rounded Rectangle 32"/>
          <p:cNvSpPr/>
          <p:nvPr/>
        </p:nvSpPr>
        <p:spPr>
          <a:xfrm>
            <a:off x="8092440" y="4023360"/>
            <a:ext cx="3611880" cy="1874519"/>
          </a:xfrm>
          <a:prstGeom prst="roundRect">
            <a:avLst>
              <a:gd name="adj" fmla="val 7804"/>
            </a:avLst>
          </a:prstGeom>
          <a:solidFill>
            <a:srgbClr val="FFFFFF">
              <a:alpha val="80000"/>
            </a:srgbClr>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8275320" y="4206240"/>
            <a:ext cx="384048" cy="384048"/>
          </a:xfrm>
          <a:prstGeom prst="roundRect">
            <a:avLst>
              <a:gd name="adj" fmla="val 47619"/>
            </a:avLst>
          </a:prstGeom>
          <a:solidFill>
            <a:srgbClr val="C7F7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275320" y="4261104"/>
            <a:ext cx="384048" cy="292608"/>
          </a:xfrm>
          <a:prstGeom prst="rect">
            <a:avLst/>
          </a:prstGeom>
          <a:noFill/>
        </p:spPr>
        <p:txBody>
          <a:bodyPr wrap="square" lIns="0" rIns="0" tIns="0" bIns="0"/>
          <a:lstStyle/>
          <a:p>
            <a:pPr algn="ctr">
              <a:spcAft>
                <a:spcPts val="0"/>
              </a:spcAft>
            </a:pPr>
            <a:r>
              <a:rPr sz="1400" b="1">
                <a:solidFill>
                  <a:srgbClr val="092B3C"/>
                </a:solidFill>
                <a:latin typeface="Calibri"/>
              </a:rPr>
              <a:t>6</a:t>
            </a:r>
          </a:p>
        </p:txBody>
      </p:sp>
      <p:sp>
        <p:nvSpPr>
          <p:cNvPr id="36" name="TextBox 35"/>
          <p:cNvSpPr txBox="1"/>
          <p:nvPr/>
        </p:nvSpPr>
        <p:spPr>
          <a:xfrm>
            <a:off x="8769096" y="4261104"/>
            <a:ext cx="2651760" cy="310896"/>
          </a:xfrm>
          <a:prstGeom prst="rect">
            <a:avLst/>
          </a:prstGeom>
          <a:noFill/>
        </p:spPr>
        <p:txBody>
          <a:bodyPr wrap="square" lIns="0" rIns="0" tIns="0" bIns="0"/>
          <a:lstStyle/>
          <a:p>
            <a:pPr algn="l">
              <a:spcAft>
                <a:spcPts val="0"/>
              </a:spcAft>
            </a:pPr>
            <a:r>
              <a:rPr sz="1800" b="1">
                <a:solidFill>
                  <a:srgbClr val="092B3C"/>
                </a:solidFill>
                <a:latin typeface="Calibri"/>
              </a:rPr>
              <a:t>Be notified</a:t>
            </a:r>
          </a:p>
        </p:txBody>
      </p:sp>
      <p:sp>
        <p:nvSpPr>
          <p:cNvPr id="37" name="TextBox 36"/>
          <p:cNvSpPr txBox="1"/>
          <p:nvPr/>
        </p:nvSpPr>
        <p:spPr>
          <a:xfrm>
            <a:off x="8275320" y="4773168"/>
            <a:ext cx="3246120" cy="960120"/>
          </a:xfrm>
          <a:prstGeom prst="rect">
            <a:avLst/>
          </a:prstGeom>
          <a:noFill/>
        </p:spPr>
        <p:txBody>
          <a:bodyPr wrap="square" lIns="0" rIns="0" tIns="0" bIns="0"/>
          <a:lstStyle/>
          <a:p>
            <a:pPr algn="l">
              <a:spcAft>
                <a:spcPts val="0"/>
              </a:spcAft>
            </a:pPr>
            <a:r>
              <a:rPr sz="1300" b="0">
                <a:solidFill>
                  <a:srgbClr val="5E7482"/>
                </a:solidFill>
                <a:latin typeface="Calibri"/>
              </a:rPr>
              <a:t>An unread badge on Home updates when a link completes or a payment is received.</a:t>
            </a:r>
          </a:p>
        </p:txBody>
      </p:sp>
      <p:sp>
        <p:nvSpPr>
          <p:cNvPr id="38" name="TextBox 37"/>
          <p:cNvSpPr txBox="1"/>
          <p:nvPr/>
        </p:nvSpPr>
        <p:spPr>
          <a:xfrm>
            <a:off x="502920" y="6473952"/>
            <a:ext cx="7315200" cy="256032"/>
          </a:xfrm>
          <a:prstGeom prst="rect">
            <a:avLst/>
          </a:prstGeom>
          <a:noFill/>
        </p:spPr>
        <p:txBody>
          <a:bodyPr wrap="square" lIns="0" rIns="0" tIns="0" bIns="0"/>
          <a:lstStyle/>
          <a:p>
            <a:pPr algn="l">
              <a:spcAft>
                <a:spcPts val="0"/>
              </a:spcAft>
            </a:pPr>
            <a:r>
              <a:rPr sz="1100" b="0">
                <a:solidFill>
                  <a:srgbClr val="5E7482"/>
                </a:solidFill>
                <a:latin typeface="Calibri"/>
              </a:rPr>
              <a:t>RUPSA NEXT   ·   Parent &amp; Guardian mobile</a:t>
            </a:r>
          </a:p>
        </p:txBody>
      </p:sp>
      <p:sp>
        <p:nvSpPr>
          <p:cNvPr id="39" name="TextBox 38"/>
          <p:cNvSpPr txBox="1"/>
          <p:nvPr/>
        </p:nvSpPr>
        <p:spPr>
          <a:xfrm>
            <a:off x="10241280" y="6473952"/>
            <a:ext cx="1417320" cy="256032"/>
          </a:xfrm>
          <a:prstGeom prst="rect">
            <a:avLst/>
          </a:prstGeom>
          <a:noFill/>
        </p:spPr>
        <p:txBody>
          <a:bodyPr wrap="square" lIns="0" rIns="0" tIns="0" bIns="0"/>
          <a:lstStyle/>
          <a:p>
            <a:pPr algn="r">
              <a:spcAft>
                <a:spcPts val="0"/>
              </a:spcAft>
            </a:pPr>
            <a:r>
              <a:rPr sz="1100" b="0">
                <a:solidFill>
                  <a:srgbClr val="5E7482"/>
                </a:solidFill>
                <a:latin typeface="Calibri"/>
              </a:rPr>
              <a:t>2  /  12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595360" y="-1463040"/>
            <a:ext cx="4754880" cy="4754880"/>
          </a:xfrm>
          <a:prstGeom prst="ellipse">
            <a:avLst/>
          </a:prstGeom>
          <a:solidFill>
            <a:srgbClr val="18D6B4">
              <a:alpha val="2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45920" y="4206240"/>
            <a:ext cx="4206240" cy="4206240"/>
          </a:xfrm>
          <a:prstGeom prst="ellipse">
            <a:avLst/>
          </a:prstGeom>
          <a:solidFill>
            <a:srgbClr val="092B3C">
              <a:alpha val="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292608"/>
            <a:ext cx="7772400" cy="256032"/>
          </a:xfrm>
          <a:prstGeom prst="rect">
            <a:avLst/>
          </a:prstGeom>
          <a:noFill/>
        </p:spPr>
        <p:txBody>
          <a:bodyPr wrap="square" lIns="0" rIns="0" tIns="0" bIns="0"/>
          <a:lstStyle/>
          <a:p>
            <a:pPr algn="l">
              <a:spcAft>
                <a:spcPts val="0"/>
              </a:spcAft>
            </a:pPr>
            <a:r>
              <a:rPr sz="1200" b="1">
                <a:solidFill>
                  <a:srgbClr val="18D6B4"/>
                </a:solidFill>
                <a:latin typeface="Calibri"/>
              </a:rPr>
              <a:t>THE SCREEN</a:t>
            </a:r>
          </a:p>
        </p:txBody>
      </p:sp>
      <p:sp>
        <p:nvSpPr>
          <p:cNvPr id="6" name="TextBox 5"/>
          <p:cNvSpPr txBox="1"/>
          <p:nvPr/>
        </p:nvSpPr>
        <p:spPr>
          <a:xfrm>
            <a:off x="502920" y="530352"/>
            <a:ext cx="8046720" cy="502920"/>
          </a:xfrm>
          <a:prstGeom prst="rect">
            <a:avLst/>
          </a:prstGeom>
          <a:noFill/>
        </p:spPr>
        <p:txBody>
          <a:bodyPr wrap="square" lIns="0" rIns="0" tIns="0" bIns="0"/>
          <a:lstStyle/>
          <a:p>
            <a:pPr algn="l">
              <a:spcAft>
                <a:spcPts val="0"/>
              </a:spcAft>
            </a:pPr>
            <a:r>
              <a:rPr sz="3000" b="1">
                <a:solidFill>
                  <a:srgbClr val="092B3C"/>
                </a:solidFill>
                <a:latin typeface="Calibri"/>
              </a:rPr>
              <a:t>A bank layout, with liquid glass</a:t>
            </a:r>
          </a:p>
        </p:txBody>
      </p:sp>
      <p:sp>
        <p:nvSpPr>
          <p:cNvPr id="7" name="TextBox 6"/>
          <p:cNvSpPr txBox="1"/>
          <p:nvPr/>
        </p:nvSpPr>
        <p:spPr>
          <a:xfrm>
            <a:off x="502920" y="1078992"/>
            <a:ext cx="7863840" cy="640080"/>
          </a:xfrm>
          <a:prstGeom prst="rect">
            <a:avLst/>
          </a:prstGeom>
          <a:noFill/>
        </p:spPr>
        <p:txBody>
          <a:bodyPr wrap="square" lIns="0" rIns="0" tIns="0" bIns="0"/>
          <a:lstStyle/>
          <a:p>
            <a:pPr algn="l">
              <a:spcAft>
                <a:spcPts val="0"/>
              </a:spcAft>
            </a:pPr>
            <a:r>
              <a:rPr sz="1500" b="0">
                <a:solidFill>
                  <a:srgbClr val="5E7482"/>
                </a:solidFill>
                <a:latin typeface="Calibri"/>
              </a:rPr>
              <a:t>Each task has its own screen. Surfaces are frosted, and the wash behind them is aqua and midnight.</a:t>
            </a:r>
          </a:p>
        </p:txBody>
      </p:sp>
      <p:sp>
        <p:nvSpPr>
          <p:cNvPr id="8" name="Rounded Rectangle 7"/>
          <p:cNvSpPr/>
          <p:nvPr/>
        </p:nvSpPr>
        <p:spPr>
          <a:xfrm>
            <a:off x="502920" y="2011680"/>
            <a:ext cx="1828800" cy="1051560"/>
          </a:xfrm>
          <a:prstGeom prst="roundRect">
            <a:avLst>
              <a:gd name="adj" fmla="val 12173"/>
            </a:avLst>
          </a:prstGeom>
          <a:solidFill>
            <a:srgbClr val="09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12648" y="2331720"/>
            <a:ext cx="1609344" cy="365760"/>
          </a:xfrm>
          <a:prstGeom prst="rect">
            <a:avLst/>
          </a:prstGeom>
          <a:noFill/>
        </p:spPr>
        <p:txBody>
          <a:bodyPr wrap="square" lIns="0" rIns="0" tIns="0" bIns="0"/>
          <a:lstStyle/>
          <a:p>
            <a:pPr algn="ctr">
              <a:spcAft>
                <a:spcPts val="0"/>
              </a:spcAft>
            </a:pPr>
            <a:r>
              <a:rPr sz="1400" b="1">
                <a:solidFill>
                  <a:srgbClr val="FFFFFF"/>
                </a:solidFill>
                <a:latin typeface="Calibri"/>
              </a:rPr>
              <a:t>Midnight</a:t>
            </a:r>
          </a:p>
        </p:txBody>
      </p:sp>
      <p:sp>
        <p:nvSpPr>
          <p:cNvPr id="10" name="Rounded Rectangle 9"/>
          <p:cNvSpPr/>
          <p:nvPr/>
        </p:nvSpPr>
        <p:spPr>
          <a:xfrm>
            <a:off x="2468880" y="2011680"/>
            <a:ext cx="1828800" cy="1051560"/>
          </a:xfrm>
          <a:prstGeom prst="roundRect">
            <a:avLst>
              <a:gd name="adj" fmla="val 12173"/>
            </a:avLst>
          </a:prstGeom>
          <a:solidFill>
            <a:srgbClr val="18D6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578608" y="2331720"/>
            <a:ext cx="1609344" cy="365760"/>
          </a:xfrm>
          <a:prstGeom prst="rect">
            <a:avLst/>
          </a:prstGeom>
          <a:noFill/>
        </p:spPr>
        <p:txBody>
          <a:bodyPr wrap="square" lIns="0" rIns="0" tIns="0" bIns="0"/>
          <a:lstStyle/>
          <a:p>
            <a:pPr algn="ctr">
              <a:spcAft>
                <a:spcPts val="0"/>
              </a:spcAft>
            </a:pPr>
            <a:r>
              <a:rPr sz="1400" b="1">
                <a:solidFill>
                  <a:srgbClr val="092B3C"/>
                </a:solidFill>
                <a:latin typeface="Calibri"/>
              </a:rPr>
              <a:t>Forward Aqua</a:t>
            </a:r>
          </a:p>
        </p:txBody>
      </p:sp>
      <p:sp>
        <p:nvSpPr>
          <p:cNvPr id="12" name="Rounded Rectangle 11"/>
          <p:cNvSpPr/>
          <p:nvPr/>
        </p:nvSpPr>
        <p:spPr>
          <a:xfrm>
            <a:off x="4434840" y="2011680"/>
            <a:ext cx="1828800" cy="1051560"/>
          </a:xfrm>
          <a:prstGeom prst="roundRect">
            <a:avLst>
              <a:gd name="adj" fmla="val 12173"/>
            </a:avLst>
          </a:prstGeom>
          <a:solidFill>
            <a:srgbClr val="C7F7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44568" y="2331720"/>
            <a:ext cx="1609344" cy="365760"/>
          </a:xfrm>
          <a:prstGeom prst="rect">
            <a:avLst/>
          </a:prstGeom>
          <a:noFill/>
        </p:spPr>
        <p:txBody>
          <a:bodyPr wrap="square" lIns="0" rIns="0" tIns="0" bIns="0"/>
          <a:lstStyle/>
          <a:p>
            <a:pPr algn="ctr">
              <a:spcAft>
                <a:spcPts val="0"/>
              </a:spcAft>
            </a:pPr>
            <a:r>
              <a:rPr sz="1400" b="1">
                <a:solidFill>
                  <a:srgbClr val="092B3C"/>
                </a:solidFill>
                <a:latin typeface="Calibri"/>
              </a:rPr>
              <a:t>Open Sky</a:t>
            </a:r>
          </a:p>
        </p:txBody>
      </p:sp>
      <p:sp>
        <p:nvSpPr>
          <p:cNvPr id="14" name="Rounded Rectangle 13"/>
          <p:cNvSpPr/>
          <p:nvPr/>
        </p:nvSpPr>
        <p:spPr>
          <a:xfrm>
            <a:off x="6400799" y="2011680"/>
            <a:ext cx="1828800" cy="1051560"/>
          </a:xfrm>
          <a:prstGeom prst="roundRect">
            <a:avLst>
              <a:gd name="adj" fmla="val 12173"/>
            </a:avLst>
          </a:prstGeom>
          <a:solidFill>
            <a:srgbClr val="F7FAF9"/>
          </a:solidFill>
          <a:ln w="12700">
            <a:solidFill>
              <a:srgbClr val="E3EE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10527" y="2331720"/>
            <a:ext cx="1609344" cy="365760"/>
          </a:xfrm>
          <a:prstGeom prst="rect">
            <a:avLst/>
          </a:prstGeom>
          <a:noFill/>
        </p:spPr>
        <p:txBody>
          <a:bodyPr wrap="square" lIns="0" rIns="0" tIns="0" bIns="0"/>
          <a:lstStyle/>
          <a:p>
            <a:pPr algn="ctr">
              <a:spcAft>
                <a:spcPts val="0"/>
              </a:spcAft>
            </a:pPr>
            <a:r>
              <a:rPr sz="1400" b="1">
                <a:solidFill>
                  <a:srgbClr val="092B3C"/>
                </a:solidFill>
                <a:latin typeface="Calibri"/>
              </a:rPr>
              <a:t>Paper</a:t>
            </a:r>
          </a:p>
        </p:txBody>
      </p:sp>
      <p:sp>
        <p:nvSpPr>
          <p:cNvPr id="16" name="Rounded Rectangle 15"/>
          <p:cNvSpPr/>
          <p:nvPr/>
        </p:nvSpPr>
        <p:spPr>
          <a:xfrm>
            <a:off x="502920" y="3291840"/>
            <a:ext cx="3749039" cy="1188720"/>
          </a:xfrm>
          <a:prstGeom prst="roundRect">
            <a:avLst>
              <a:gd name="adj" fmla="val 12307"/>
            </a:avLst>
          </a:prstGeom>
          <a:solidFill>
            <a:srgbClr val="FFFFFF">
              <a:alpha val="78000"/>
            </a:srgbClr>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04088" y="3438144"/>
            <a:ext cx="3383279" cy="329184"/>
          </a:xfrm>
          <a:prstGeom prst="rect">
            <a:avLst/>
          </a:prstGeom>
          <a:noFill/>
        </p:spPr>
        <p:txBody>
          <a:bodyPr wrap="square" lIns="0" rIns="0" tIns="0" bIns="0"/>
          <a:lstStyle/>
          <a:p>
            <a:pPr algn="l">
              <a:spcAft>
                <a:spcPts val="0"/>
              </a:spcAft>
            </a:pPr>
            <a:r>
              <a:rPr sz="1600" b="1">
                <a:solidFill>
                  <a:srgbClr val="092B3C"/>
                </a:solidFill>
                <a:latin typeface="Calibri"/>
              </a:rPr>
              <a:t>One balance</a:t>
            </a:r>
          </a:p>
        </p:txBody>
      </p:sp>
      <p:sp>
        <p:nvSpPr>
          <p:cNvPr id="18" name="TextBox 17"/>
          <p:cNvSpPr txBox="1"/>
          <p:nvPr/>
        </p:nvSpPr>
        <p:spPr>
          <a:xfrm>
            <a:off x="704088" y="3767328"/>
            <a:ext cx="3383279" cy="585216"/>
          </a:xfrm>
          <a:prstGeom prst="rect">
            <a:avLst/>
          </a:prstGeom>
          <a:noFill/>
        </p:spPr>
        <p:txBody>
          <a:bodyPr wrap="square" lIns="0" rIns="0" tIns="0" bIns="0"/>
          <a:lstStyle/>
          <a:p>
            <a:pPr algn="l">
              <a:spcAft>
                <a:spcPts val="200"/>
              </a:spcAft>
            </a:pPr>
            <a:r>
              <a:rPr sz="1300" b="0">
                <a:solidFill>
                  <a:srgbClr val="5E7482"/>
                </a:solidFill>
                <a:latin typeface="Calibri"/>
              </a:rPr>
              <a:t>Home leads with fees outstanding, not a wall of invoices.</a:t>
            </a:r>
          </a:p>
        </p:txBody>
      </p:sp>
      <p:sp>
        <p:nvSpPr>
          <p:cNvPr id="19" name="Rounded Rectangle 18"/>
          <p:cNvSpPr/>
          <p:nvPr/>
        </p:nvSpPr>
        <p:spPr>
          <a:xfrm>
            <a:off x="502920" y="4617720"/>
            <a:ext cx="3749039" cy="1188720"/>
          </a:xfrm>
          <a:prstGeom prst="roundRect">
            <a:avLst>
              <a:gd name="adj" fmla="val 12307"/>
            </a:avLst>
          </a:prstGeom>
          <a:solidFill>
            <a:srgbClr val="FFFFFF">
              <a:alpha val="78000"/>
            </a:srgbClr>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04088" y="4764024"/>
            <a:ext cx="3383279" cy="329184"/>
          </a:xfrm>
          <a:prstGeom prst="rect">
            <a:avLst/>
          </a:prstGeom>
          <a:noFill/>
        </p:spPr>
        <p:txBody>
          <a:bodyPr wrap="square" lIns="0" rIns="0" tIns="0" bIns="0"/>
          <a:lstStyle/>
          <a:p>
            <a:pPr algn="l">
              <a:spcAft>
                <a:spcPts val="0"/>
              </a:spcAft>
            </a:pPr>
            <a:r>
              <a:rPr sz="1600" b="1">
                <a:solidFill>
                  <a:srgbClr val="092B3C"/>
                </a:solidFill>
                <a:latin typeface="Calibri"/>
              </a:rPr>
              <a:t>A few actions</a:t>
            </a:r>
          </a:p>
        </p:txBody>
      </p:sp>
      <p:sp>
        <p:nvSpPr>
          <p:cNvPr id="21" name="TextBox 20"/>
          <p:cNvSpPr txBox="1"/>
          <p:nvPr/>
        </p:nvSpPr>
        <p:spPr>
          <a:xfrm>
            <a:off x="704088" y="5093208"/>
            <a:ext cx="3383279" cy="585216"/>
          </a:xfrm>
          <a:prstGeom prst="rect">
            <a:avLst/>
          </a:prstGeom>
          <a:noFill/>
        </p:spPr>
        <p:txBody>
          <a:bodyPr wrap="square" lIns="0" rIns="0" tIns="0" bIns="0"/>
          <a:lstStyle/>
          <a:p>
            <a:pPr algn="l">
              <a:spcAft>
                <a:spcPts val="200"/>
              </a:spcAft>
            </a:pPr>
            <a:r>
              <a:rPr sz="1300" b="0">
                <a:solidFill>
                  <a:srgbClr val="5E7482"/>
                </a:solidFill>
                <a:latin typeface="Calibri"/>
              </a:rPr>
              <a:t>Pay, Activity, and Link. Everything else lives under You.</a:t>
            </a:r>
          </a:p>
        </p:txBody>
      </p:sp>
      <p:sp>
        <p:nvSpPr>
          <p:cNvPr id="22" name="Rounded Rectangle 21"/>
          <p:cNvSpPr/>
          <p:nvPr/>
        </p:nvSpPr>
        <p:spPr>
          <a:xfrm>
            <a:off x="4434840" y="3291840"/>
            <a:ext cx="3749039" cy="1188720"/>
          </a:xfrm>
          <a:prstGeom prst="roundRect">
            <a:avLst>
              <a:gd name="adj" fmla="val 12307"/>
            </a:avLst>
          </a:prstGeom>
          <a:solidFill>
            <a:srgbClr val="FFFFFF">
              <a:alpha val="78000"/>
            </a:srgbClr>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636008" y="3438144"/>
            <a:ext cx="3383279" cy="329184"/>
          </a:xfrm>
          <a:prstGeom prst="rect">
            <a:avLst/>
          </a:prstGeom>
          <a:noFill/>
        </p:spPr>
        <p:txBody>
          <a:bodyPr wrap="square" lIns="0" rIns="0" tIns="0" bIns="0"/>
          <a:lstStyle/>
          <a:p>
            <a:pPr algn="l">
              <a:spcAft>
                <a:spcPts val="0"/>
              </a:spcAft>
            </a:pPr>
            <a:r>
              <a:rPr sz="1600" b="1">
                <a:solidFill>
                  <a:srgbClr val="092B3C"/>
                </a:solidFill>
                <a:latin typeface="Calibri"/>
              </a:rPr>
              <a:t>Steps, not forms</a:t>
            </a:r>
          </a:p>
        </p:txBody>
      </p:sp>
      <p:sp>
        <p:nvSpPr>
          <p:cNvPr id="24" name="TextBox 23"/>
          <p:cNvSpPr txBox="1"/>
          <p:nvPr/>
        </p:nvSpPr>
        <p:spPr>
          <a:xfrm>
            <a:off x="4636008" y="3767328"/>
            <a:ext cx="3383279" cy="585216"/>
          </a:xfrm>
          <a:prstGeom prst="rect">
            <a:avLst/>
          </a:prstGeom>
          <a:noFill/>
        </p:spPr>
        <p:txBody>
          <a:bodyPr wrap="square" lIns="0" rIns="0" tIns="0" bIns="0"/>
          <a:lstStyle/>
          <a:p>
            <a:pPr algn="l">
              <a:spcAft>
                <a:spcPts val="200"/>
              </a:spcAft>
            </a:pPr>
            <a:r>
              <a:rPr sz="1300" b="0">
                <a:solidFill>
                  <a:srgbClr val="5E7482"/>
                </a:solidFill>
                <a:latin typeface="Calibri"/>
              </a:rPr>
              <a:t>Identity and linking walk one card at a time: School, Student, Confirm.</a:t>
            </a:r>
          </a:p>
        </p:txBody>
      </p:sp>
      <p:sp>
        <p:nvSpPr>
          <p:cNvPr id="25" name="Rounded Rectangle 24"/>
          <p:cNvSpPr/>
          <p:nvPr/>
        </p:nvSpPr>
        <p:spPr>
          <a:xfrm>
            <a:off x="4434840" y="4617720"/>
            <a:ext cx="3749039" cy="1188720"/>
          </a:xfrm>
          <a:prstGeom prst="roundRect">
            <a:avLst>
              <a:gd name="adj" fmla="val 12307"/>
            </a:avLst>
          </a:prstGeom>
          <a:solidFill>
            <a:srgbClr val="FFFFFF">
              <a:alpha val="78000"/>
            </a:srgbClr>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636008" y="4764024"/>
            <a:ext cx="3383279" cy="329184"/>
          </a:xfrm>
          <a:prstGeom prst="rect">
            <a:avLst/>
          </a:prstGeom>
          <a:noFill/>
        </p:spPr>
        <p:txBody>
          <a:bodyPr wrap="square" lIns="0" rIns="0" tIns="0" bIns="0"/>
          <a:lstStyle/>
          <a:p>
            <a:pPr algn="l">
              <a:spcAft>
                <a:spcPts val="0"/>
              </a:spcAft>
            </a:pPr>
            <a:r>
              <a:rPr sz="1600" b="1">
                <a:solidFill>
                  <a:srgbClr val="092B3C"/>
                </a:solidFill>
                <a:latin typeface="Calibri"/>
              </a:rPr>
              <a:t>Frosted cards</a:t>
            </a:r>
          </a:p>
        </p:txBody>
      </p:sp>
      <p:sp>
        <p:nvSpPr>
          <p:cNvPr id="27" name="TextBox 26"/>
          <p:cNvSpPr txBox="1"/>
          <p:nvPr/>
        </p:nvSpPr>
        <p:spPr>
          <a:xfrm>
            <a:off x="4636008" y="5093208"/>
            <a:ext cx="3383279" cy="585216"/>
          </a:xfrm>
          <a:prstGeom prst="rect">
            <a:avLst/>
          </a:prstGeom>
          <a:noFill/>
        </p:spPr>
        <p:txBody>
          <a:bodyPr wrap="square" lIns="0" rIns="0" tIns="0" bIns="0"/>
          <a:lstStyle/>
          <a:p>
            <a:pPr algn="l">
              <a:spcAft>
                <a:spcPts val="200"/>
              </a:spcAft>
            </a:pPr>
            <a:r>
              <a:rPr sz="1300" b="0">
                <a:solidFill>
                  <a:srgbClr val="5E7482"/>
                </a:solidFill>
                <a:latin typeface="Calibri"/>
              </a:rPr>
              <a:t>Sheets are translucent white, with a soft aqua wash showing through.</a:t>
            </a:r>
          </a:p>
        </p:txBody>
      </p:sp>
      <p:sp>
        <p:nvSpPr>
          <p:cNvPr id="28" name="Rounded Rectangle 27"/>
          <p:cNvSpPr/>
          <p:nvPr/>
        </p:nvSpPr>
        <p:spPr>
          <a:xfrm>
            <a:off x="8869680" y="1874519"/>
            <a:ext cx="2651760" cy="4160520"/>
          </a:xfrm>
          <a:prstGeom prst="roundRect">
            <a:avLst>
              <a:gd name="adj" fmla="val 9655"/>
            </a:avLst>
          </a:prstGeom>
          <a:solidFill>
            <a:srgbClr val="FFFFFF">
              <a:alpha val="82000"/>
            </a:srgbClr>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9939528" y="1984247"/>
            <a:ext cx="512064" cy="54864"/>
          </a:xfrm>
          <a:prstGeom prst="roundRect">
            <a:avLst>
              <a:gd name="adj" fmla="val 50000"/>
            </a:avLst>
          </a:prstGeom>
          <a:solidFill>
            <a:srgbClr val="E3EE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015984" y="2167127"/>
            <a:ext cx="2359152" cy="201168"/>
          </a:xfrm>
          <a:prstGeom prst="rect">
            <a:avLst/>
          </a:prstGeom>
          <a:noFill/>
        </p:spPr>
        <p:txBody>
          <a:bodyPr wrap="square" lIns="0" rIns="0" tIns="0" bIns="0"/>
          <a:lstStyle/>
          <a:p>
            <a:pPr algn="l">
              <a:spcAft>
                <a:spcPts val="0"/>
              </a:spcAft>
            </a:pPr>
            <a:r>
              <a:rPr sz="1100" b="0">
                <a:solidFill>
                  <a:srgbClr val="5E7482"/>
                </a:solidFill>
                <a:latin typeface="Calibri"/>
              </a:rPr>
              <a:t>Good afternoon</a:t>
            </a:r>
          </a:p>
        </p:txBody>
      </p:sp>
      <p:sp>
        <p:nvSpPr>
          <p:cNvPr id="31" name="TextBox 30"/>
          <p:cNvSpPr txBox="1"/>
          <p:nvPr/>
        </p:nvSpPr>
        <p:spPr>
          <a:xfrm>
            <a:off x="9015984" y="2350007"/>
            <a:ext cx="2359152" cy="274320"/>
          </a:xfrm>
          <a:prstGeom prst="rect">
            <a:avLst/>
          </a:prstGeom>
          <a:noFill/>
        </p:spPr>
        <p:txBody>
          <a:bodyPr wrap="square" lIns="0" rIns="0" tIns="0" bIns="0"/>
          <a:lstStyle/>
          <a:p>
            <a:pPr algn="l">
              <a:spcAft>
                <a:spcPts val="0"/>
              </a:spcAft>
            </a:pPr>
            <a:r>
              <a:rPr sz="1600" b="1">
                <a:solidFill>
                  <a:srgbClr val="092B3C"/>
                </a:solidFill>
                <a:latin typeface="Calibri"/>
              </a:rPr>
              <a:t>Parent</a:t>
            </a:r>
          </a:p>
        </p:txBody>
      </p:sp>
      <p:sp>
        <p:nvSpPr>
          <p:cNvPr id="32" name="Rounded Rectangle 31"/>
          <p:cNvSpPr/>
          <p:nvPr/>
        </p:nvSpPr>
        <p:spPr>
          <a:xfrm>
            <a:off x="9015984" y="2734055"/>
            <a:ext cx="2359152" cy="868680"/>
          </a:xfrm>
          <a:prstGeom prst="roundRect">
            <a:avLst>
              <a:gd name="adj" fmla="val 12631"/>
            </a:avLst>
          </a:prstGeom>
          <a:solidFill>
            <a:srgbClr val="09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125712" y="2825495"/>
            <a:ext cx="2176272" cy="201168"/>
          </a:xfrm>
          <a:prstGeom prst="rect">
            <a:avLst/>
          </a:prstGeom>
          <a:noFill/>
        </p:spPr>
        <p:txBody>
          <a:bodyPr wrap="square" lIns="0" rIns="0" tIns="0" bIns="0"/>
          <a:lstStyle/>
          <a:p>
            <a:pPr algn="l">
              <a:spcAft>
                <a:spcPts val="0"/>
              </a:spcAft>
            </a:pPr>
            <a:r>
              <a:rPr sz="1000" b="1">
                <a:solidFill>
                  <a:srgbClr val="18D6B4"/>
                </a:solidFill>
                <a:latin typeface="Calibri"/>
              </a:rPr>
              <a:t>Fees outstanding</a:t>
            </a:r>
          </a:p>
        </p:txBody>
      </p:sp>
      <p:sp>
        <p:nvSpPr>
          <p:cNvPr id="34" name="TextBox 33"/>
          <p:cNvSpPr txBox="1"/>
          <p:nvPr/>
        </p:nvSpPr>
        <p:spPr>
          <a:xfrm>
            <a:off x="9125712" y="3081527"/>
            <a:ext cx="2176272" cy="329184"/>
          </a:xfrm>
          <a:prstGeom prst="rect">
            <a:avLst/>
          </a:prstGeom>
          <a:noFill/>
        </p:spPr>
        <p:txBody>
          <a:bodyPr wrap="square" lIns="0" rIns="0" tIns="0" bIns="0"/>
          <a:lstStyle/>
          <a:p>
            <a:pPr algn="l">
              <a:spcAft>
                <a:spcPts val="0"/>
              </a:spcAft>
            </a:pPr>
            <a:r>
              <a:rPr sz="1600" b="1">
                <a:solidFill>
                  <a:srgbClr val="FFFFFF"/>
                </a:solidFill>
                <a:latin typeface="Calibri"/>
              </a:rPr>
              <a:t>Sample balance</a:t>
            </a:r>
          </a:p>
        </p:txBody>
      </p:sp>
      <p:sp>
        <p:nvSpPr>
          <p:cNvPr id="35" name="Rounded Rectangle 34"/>
          <p:cNvSpPr/>
          <p:nvPr/>
        </p:nvSpPr>
        <p:spPr>
          <a:xfrm>
            <a:off x="9052560" y="3767327"/>
            <a:ext cx="713232" cy="566928"/>
          </a:xfrm>
          <a:prstGeom prst="roundRect">
            <a:avLst>
              <a:gd name="adj" fmla="val 16129"/>
            </a:avLst>
          </a:prstGeom>
          <a:solidFill>
            <a:srgbClr val="FFFFFF">
              <a:alpha val="75000"/>
            </a:srgbClr>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015984" y="3904487"/>
            <a:ext cx="786384" cy="292608"/>
          </a:xfrm>
          <a:prstGeom prst="rect">
            <a:avLst/>
          </a:prstGeom>
          <a:noFill/>
        </p:spPr>
        <p:txBody>
          <a:bodyPr wrap="square" lIns="0" rIns="0" tIns="0" bIns="0"/>
          <a:lstStyle/>
          <a:p>
            <a:pPr algn="ctr">
              <a:spcAft>
                <a:spcPts val="0"/>
              </a:spcAft>
            </a:pPr>
            <a:r>
              <a:rPr sz="1100" b="1">
                <a:solidFill>
                  <a:srgbClr val="092B3C"/>
                </a:solidFill>
                <a:latin typeface="Calibri"/>
              </a:rPr>
              <a:t>Pay</a:t>
            </a:r>
          </a:p>
        </p:txBody>
      </p:sp>
      <p:sp>
        <p:nvSpPr>
          <p:cNvPr id="37" name="Rounded Rectangle 36"/>
          <p:cNvSpPr/>
          <p:nvPr/>
        </p:nvSpPr>
        <p:spPr>
          <a:xfrm>
            <a:off x="9838944" y="3767327"/>
            <a:ext cx="713232" cy="566928"/>
          </a:xfrm>
          <a:prstGeom prst="roundRect">
            <a:avLst>
              <a:gd name="adj" fmla="val 16129"/>
            </a:avLst>
          </a:prstGeom>
          <a:solidFill>
            <a:srgbClr val="FFFFFF">
              <a:alpha val="75000"/>
            </a:srgbClr>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802368" y="3904487"/>
            <a:ext cx="786384" cy="292608"/>
          </a:xfrm>
          <a:prstGeom prst="rect">
            <a:avLst/>
          </a:prstGeom>
          <a:noFill/>
        </p:spPr>
        <p:txBody>
          <a:bodyPr wrap="square" lIns="0" rIns="0" tIns="0" bIns="0"/>
          <a:lstStyle/>
          <a:p>
            <a:pPr algn="ctr">
              <a:spcAft>
                <a:spcPts val="0"/>
              </a:spcAft>
            </a:pPr>
            <a:r>
              <a:rPr sz="1100" b="1">
                <a:solidFill>
                  <a:srgbClr val="092B3C"/>
                </a:solidFill>
                <a:latin typeface="Calibri"/>
              </a:rPr>
              <a:t>Activity</a:t>
            </a:r>
          </a:p>
        </p:txBody>
      </p:sp>
      <p:sp>
        <p:nvSpPr>
          <p:cNvPr id="39" name="Rounded Rectangle 38"/>
          <p:cNvSpPr/>
          <p:nvPr/>
        </p:nvSpPr>
        <p:spPr>
          <a:xfrm>
            <a:off x="10625328" y="3767327"/>
            <a:ext cx="713232" cy="566928"/>
          </a:xfrm>
          <a:prstGeom prst="roundRect">
            <a:avLst>
              <a:gd name="adj" fmla="val 16129"/>
            </a:avLst>
          </a:prstGeom>
          <a:solidFill>
            <a:srgbClr val="FFFFFF">
              <a:alpha val="75000"/>
            </a:srgbClr>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588752" y="3904487"/>
            <a:ext cx="786384" cy="292608"/>
          </a:xfrm>
          <a:prstGeom prst="rect">
            <a:avLst/>
          </a:prstGeom>
          <a:noFill/>
        </p:spPr>
        <p:txBody>
          <a:bodyPr wrap="square" lIns="0" rIns="0" tIns="0" bIns="0"/>
          <a:lstStyle/>
          <a:p>
            <a:pPr algn="ctr">
              <a:spcAft>
                <a:spcPts val="0"/>
              </a:spcAft>
            </a:pPr>
            <a:r>
              <a:rPr sz="1100" b="1">
                <a:solidFill>
                  <a:srgbClr val="092B3C"/>
                </a:solidFill>
                <a:latin typeface="Calibri"/>
              </a:rPr>
              <a:t>Link</a:t>
            </a:r>
          </a:p>
        </p:txBody>
      </p:sp>
      <p:sp>
        <p:nvSpPr>
          <p:cNvPr id="41" name="TextBox 40"/>
          <p:cNvSpPr txBox="1"/>
          <p:nvPr/>
        </p:nvSpPr>
        <p:spPr>
          <a:xfrm>
            <a:off x="9015984" y="4498847"/>
            <a:ext cx="2359152" cy="201168"/>
          </a:xfrm>
          <a:prstGeom prst="rect">
            <a:avLst/>
          </a:prstGeom>
          <a:noFill/>
        </p:spPr>
        <p:txBody>
          <a:bodyPr wrap="square" lIns="0" rIns="0" tIns="0" bIns="0"/>
          <a:lstStyle/>
          <a:p>
            <a:pPr algn="l">
              <a:spcAft>
                <a:spcPts val="0"/>
              </a:spcAft>
            </a:pPr>
            <a:r>
              <a:rPr sz="1000" b="1">
                <a:solidFill>
                  <a:srgbClr val="5E7482"/>
                </a:solidFill>
                <a:latin typeface="Calibri"/>
              </a:rPr>
              <a:t>ACCOUNTS</a:t>
            </a:r>
          </a:p>
        </p:txBody>
      </p:sp>
      <p:sp>
        <p:nvSpPr>
          <p:cNvPr id="42" name="Rounded Rectangle 41"/>
          <p:cNvSpPr/>
          <p:nvPr/>
        </p:nvSpPr>
        <p:spPr>
          <a:xfrm>
            <a:off x="9015984" y="4745735"/>
            <a:ext cx="2359152" cy="640080"/>
          </a:xfrm>
          <a:prstGeom prst="roundRect">
            <a:avLst>
              <a:gd name="adj" fmla="val 14285"/>
            </a:avLst>
          </a:prstGeom>
          <a:solidFill>
            <a:srgbClr val="FFFFFF">
              <a:alpha val="90000"/>
            </a:srgbClr>
          </a:solidFill>
          <a:ln w="9525">
            <a:solidFill>
              <a:srgbClr val="E3EE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125712" y="4837175"/>
            <a:ext cx="2176272" cy="219456"/>
          </a:xfrm>
          <a:prstGeom prst="rect">
            <a:avLst/>
          </a:prstGeom>
          <a:noFill/>
        </p:spPr>
        <p:txBody>
          <a:bodyPr wrap="square" lIns="0" rIns="0" tIns="0" bIns="0"/>
          <a:lstStyle/>
          <a:p>
            <a:pPr algn="l">
              <a:spcAft>
                <a:spcPts val="0"/>
              </a:spcAft>
            </a:pPr>
            <a:r>
              <a:rPr sz="1200" b="1">
                <a:solidFill>
                  <a:srgbClr val="092B3C"/>
                </a:solidFill>
                <a:latin typeface="Calibri"/>
              </a:rPr>
              <a:t>Aline Uwase</a:t>
            </a:r>
          </a:p>
        </p:txBody>
      </p:sp>
      <p:sp>
        <p:nvSpPr>
          <p:cNvPr id="44" name="TextBox 43"/>
          <p:cNvSpPr txBox="1"/>
          <p:nvPr/>
        </p:nvSpPr>
        <p:spPr>
          <a:xfrm>
            <a:off x="9125712" y="5056631"/>
            <a:ext cx="2176272" cy="201168"/>
          </a:xfrm>
          <a:prstGeom prst="rect">
            <a:avLst/>
          </a:prstGeom>
          <a:noFill/>
        </p:spPr>
        <p:txBody>
          <a:bodyPr wrap="square" lIns="0" rIns="0" tIns="0" bIns="0"/>
          <a:lstStyle/>
          <a:p>
            <a:pPr algn="l">
              <a:spcAft>
                <a:spcPts val="0"/>
              </a:spcAft>
            </a:pPr>
            <a:r>
              <a:rPr sz="1000" b="0">
                <a:solidFill>
                  <a:srgbClr val="5E7482"/>
                </a:solidFill>
                <a:latin typeface="Calibri"/>
              </a:rPr>
              <a:t>S3  ·  Example Private School</a:t>
            </a:r>
          </a:p>
        </p:txBody>
      </p:sp>
      <p:sp>
        <p:nvSpPr>
          <p:cNvPr id="45" name="TextBox 44"/>
          <p:cNvSpPr txBox="1"/>
          <p:nvPr/>
        </p:nvSpPr>
        <p:spPr>
          <a:xfrm>
            <a:off x="502920" y="6473952"/>
            <a:ext cx="7315200" cy="256032"/>
          </a:xfrm>
          <a:prstGeom prst="rect">
            <a:avLst/>
          </a:prstGeom>
          <a:noFill/>
        </p:spPr>
        <p:txBody>
          <a:bodyPr wrap="square" lIns="0" rIns="0" tIns="0" bIns="0"/>
          <a:lstStyle/>
          <a:p>
            <a:pPr algn="l">
              <a:spcAft>
                <a:spcPts val="0"/>
              </a:spcAft>
            </a:pPr>
            <a:r>
              <a:rPr sz="1100" b="0">
                <a:solidFill>
                  <a:srgbClr val="5E7482"/>
                </a:solidFill>
                <a:latin typeface="Calibri"/>
              </a:rPr>
              <a:t>RUPSA NEXT   ·   Parent &amp; Guardian mobile</a:t>
            </a:r>
          </a:p>
        </p:txBody>
      </p:sp>
      <p:sp>
        <p:nvSpPr>
          <p:cNvPr id="46" name="TextBox 45"/>
          <p:cNvSpPr txBox="1"/>
          <p:nvPr/>
        </p:nvSpPr>
        <p:spPr>
          <a:xfrm>
            <a:off x="10241280" y="6473952"/>
            <a:ext cx="1417320" cy="256032"/>
          </a:xfrm>
          <a:prstGeom prst="rect">
            <a:avLst/>
          </a:prstGeom>
          <a:noFill/>
        </p:spPr>
        <p:txBody>
          <a:bodyPr wrap="square" lIns="0" rIns="0" tIns="0" bIns="0"/>
          <a:lstStyle/>
          <a:p>
            <a:pPr algn="r">
              <a:spcAft>
                <a:spcPts val="0"/>
              </a:spcAft>
            </a:pPr>
            <a:r>
              <a:rPr sz="1100" b="0">
                <a:solidFill>
                  <a:srgbClr val="5E7482"/>
                </a:solidFill>
                <a:latin typeface="Calibri"/>
              </a:rPr>
              <a:t>3  /  12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595360" y="-1463040"/>
            <a:ext cx="4754880" cy="4754880"/>
          </a:xfrm>
          <a:prstGeom prst="ellipse">
            <a:avLst/>
          </a:prstGeom>
          <a:solidFill>
            <a:srgbClr val="18D6B4">
              <a:alpha val="2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45920" y="4206240"/>
            <a:ext cx="4206240" cy="4206240"/>
          </a:xfrm>
          <a:prstGeom prst="ellipse">
            <a:avLst/>
          </a:prstGeom>
          <a:solidFill>
            <a:srgbClr val="092B3C">
              <a:alpha val="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292608"/>
            <a:ext cx="7772400" cy="256032"/>
          </a:xfrm>
          <a:prstGeom prst="rect">
            <a:avLst/>
          </a:prstGeom>
          <a:noFill/>
        </p:spPr>
        <p:txBody>
          <a:bodyPr wrap="square" lIns="0" rIns="0" tIns="0" bIns="0"/>
          <a:lstStyle/>
          <a:p>
            <a:pPr algn="l">
              <a:spcAft>
                <a:spcPts val="0"/>
              </a:spcAft>
            </a:pPr>
            <a:r>
              <a:rPr sz="1200" b="1">
                <a:solidFill>
                  <a:srgbClr val="18D6B4"/>
                </a:solidFill>
                <a:latin typeface="Calibri"/>
              </a:rPr>
              <a:t>REGISTER</a:t>
            </a:r>
          </a:p>
        </p:txBody>
      </p:sp>
      <p:sp>
        <p:nvSpPr>
          <p:cNvPr id="6" name="TextBox 5"/>
          <p:cNvSpPr txBox="1"/>
          <p:nvPr/>
        </p:nvSpPr>
        <p:spPr>
          <a:xfrm>
            <a:off x="502920" y="530352"/>
            <a:ext cx="8046720" cy="502920"/>
          </a:xfrm>
          <a:prstGeom prst="rect">
            <a:avLst/>
          </a:prstGeom>
          <a:noFill/>
        </p:spPr>
        <p:txBody>
          <a:bodyPr wrap="square" lIns="0" rIns="0" tIns="0" bIns="0"/>
          <a:lstStyle/>
          <a:p>
            <a:pPr algn="l">
              <a:spcAft>
                <a:spcPts val="0"/>
              </a:spcAft>
            </a:pPr>
            <a:r>
              <a:rPr sz="3000" b="1">
                <a:solidFill>
                  <a:srgbClr val="092B3C"/>
                </a:solidFill>
                <a:latin typeface="Calibri"/>
              </a:rPr>
              <a:t>Only a parent can open this account</a:t>
            </a:r>
          </a:p>
        </p:txBody>
      </p:sp>
      <p:sp>
        <p:nvSpPr>
          <p:cNvPr id="7" name="TextBox 6"/>
          <p:cNvSpPr txBox="1"/>
          <p:nvPr/>
        </p:nvSpPr>
        <p:spPr>
          <a:xfrm>
            <a:off x="502920" y="1078992"/>
            <a:ext cx="7863840" cy="640080"/>
          </a:xfrm>
          <a:prstGeom prst="rect">
            <a:avLst/>
          </a:prstGeom>
          <a:noFill/>
        </p:spPr>
        <p:txBody>
          <a:bodyPr wrap="square" lIns="0" rIns="0" tIns="0" bIns="0"/>
          <a:lstStyle/>
          <a:p>
            <a:pPr algn="l">
              <a:spcAft>
                <a:spcPts val="0"/>
              </a:spcAft>
            </a:pPr>
            <a:r>
              <a:rPr sz="1500" b="0">
                <a:solidFill>
                  <a:srgbClr val="5E7482"/>
                </a:solidFill>
                <a:latin typeface="Calibri"/>
              </a:rPr>
              <a:t>The phone asks for the person, then for consent. It does not ask which role they want.</a:t>
            </a:r>
          </a:p>
        </p:txBody>
      </p:sp>
      <p:sp>
        <p:nvSpPr>
          <p:cNvPr id="8" name="Rounded Rectangle 7"/>
          <p:cNvSpPr/>
          <p:nvPr/>
        </p:nvSpPr>
        <p:spPr>
          <a:xfrm>
            <a:off x="502920" y="1965960"/>
            <a:ext cx="7589520" cy="896112"/>
          </a:xfrm>
          <a:prstGeom prst="roundRect">
            <a:avLst>
              <a:gd name="adj" fmla="val 14285"/>
            </a:avLst>
          </a:prstGeom>
          <a:solidFill>
            <a:srgbClr val="FFFFFF">
              <a:alpha val="80000"/>
            </a:srgbClr>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76656" y="2221992"/>
            <a:ext cx="91440" cy="384048"/>
          </a:xfrm>
          <a:prstGeom prst="roundRect">
            <a:avLst>
              <a:gd name="adj" fmla="val 50000"/>
            </a:avLst>
          </a:prstGeom>
          <a:solidFill>
            <a:srgbClr val="18D6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093976"/>
            <a:ext cx="1371600" cy="640080"/>
          </a:xfrm>
          <a:prstGeom prst="rect">
            <a:avLst/>
          </a:prstGeom>
          <a:noFill/>
        </p:spPr>
        <p:txBody>
          <a:bodyPr wrap="square" lIns="0" rIns="0" tIns="0" bIns="0"/>
          <a:lstStyle/>
          <a:p>
            <a:pPr algn="l">
              <a:spcAft>
                <a:spcPts val="0"/>
              </a:spcAft>
            </a:pPr>
            <a:r>
              <a:rPr sz="1600" b="1">
                <a:solidFill>
                  <a:srgbClr val="092B3C"/>
                </a:solidFill>
                <a:latin typeface="Calibri"/>
              </a:rPr>
              <a:t>Who</a:t>
            </a:r>
          </a:p>
        </p:txBody>
      </p:sp>
      <p:sp>
        <p:nvSpPr>
          <p:cNvPr id="11" name="TextBox 10"/>
          <p:cNvSpPr txBox="1"/>
          <p:nvPr/>
        </p:nvSpPr>
        <p:spPr>
          <a:xfrm>
            <a:off x="2377440" y="2112264"/>
            <a:ext cx="5394960" cy="621792"/>
          </a:xfrm>
          <a:prstGeom prst="rect">
            <a:avLst/>
          </a:prstGeom>
          <a:noFill/>
        </p:spPr>
        <p:txBody>
          <a:bodyPr wrap="square" lIns="0" rIns="0" tIns="0" bIns="0"/>
          <a:lstStyle/>
          <a:p>
            <a:pPr algn="l">
              <a:spcAft>
                <a:spcPts val="0"/>
              </a:spcAft>
            </a:pPr>
            <a:r>
              <a:rPr sz="1400" b="0">
                <a:solidFill>
                  <a:srgbClr val="5E7482"/>
                </a:solidFill>
                <a:latin typeface="Calibri"/>
              </a:rPr>
              <a:t>Full name, phone, email, and a password. A national ID can be added now or later.</a:t>
            </a:r>
          </a:p>
        </p:txBody>
      </p:sp>
      <p:sp>
        <p:nvSpPr>
          <p:cNvPr id="12" name="Rounded Rectangle 11"/>
          <p:cNvSpPr/>
          <p:nvPr/>
        </p:nvSpPr>
        <p:spPr>
          <a:xfrm>
            <a:off x="502920" y="2971800"/>
            <a:ext cx="7589520" cy="896112"/>
          </a:xfrm>
          <a:prstGeom prst="roundRect">
            <a:avLst>
              <a:gd name="adj" fmla="val 14285"/>
            </a:avLst>
          </a:prstGeom>
          <a:solidFill>
            <a:srgbClr val="FFFFFF">
              <a:alpha val="80000"/>
            </a:srgbClr>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76656" y="3227832"/>
            <a:ext cx="91440" cy="384048"/>
          </a:xfrm>
          <a:prstGeom prst="roundRect">
            <a:avLst>
              <a:gd name="adj" fmla="val 50000"/>
            </a:avLst>
          </a:prstGeom>
          <a:solidFill>
            <a:srgbClr val="18D6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0120" y="3099816"/>
            <a:ext cx="1371600" cy="640080"/>
          </a:xfrm>
          <a:prstGeom prst="rect">
            <a:avLst/>
          </a:prstGeom>
          <a:noFill/>
        </p:spPr>
        <p:txBody>
          <a:bodyPr wrap="square" lIns="0" rIns="0" tIns="0" bIns="0"/>
          <a:lstStyle/>
          <a:p>
            <a:pPr algn="l">
              <a:spcAft>
                <a:spcPts val="0"/>
              </a:spcAft>
            </a:pPr>
            <a:r>
              <a:rPr sz="1600" b="1">
                <a:solidFill>
                  <a:srgbClr val="092B3C"/>
                </a:solidFill>
                <a:latin typeface="Calibri"/>
              </a:rPr>
              <a:t>Consent</a:t>
            </a:r>
          </a:p>
        </p:txBody>
      </p:sp>
      <p:sp>
        <p:nvSpPr>
          <p:cNvPr id="15" name="TextBox 14"/>
          <p:cNvSpPr txBox="1"/>
          <p:nvPr/>
        </p:nvSpPr>
        <p:spPr>
          <a:xfrm>
            <a:off x="2377440" y="3118104"/>
            <a:ext cx="5394960" cy="621792"/>
          </a:xfrm>
          <a:prstGeom prst="rect">
            <a:avLst/>
          </a:prstGeom>
          <a:noFill/>
        </p:spPr>
        <p:txBody>
          <a:bodyPr wrap="square" lIns="0" rIns="0" tIns="0" bIns="0"/>
          <a:lstStyle/>
          <a:p>
            <a:pPr algn="l">
              <a:spcAft>
                <a:spcPts val="0"/>
              </a:spcAft>
            </a:pPr>
            <a:r>
              <a:rPr sz="1400" b="0">
                <a:solidFill>
                  <a:srgbClr val="5E7482"/>
                </a:solidFill>
                <a:latin typeface="Calibri"/>
              </a:rPr>
              <a:t>The account is created only when parental-responsibility consent is accepted.</a:t>
            </a:r>
          </a:p>
        </p:txBody>
      </p:sp>
      <p:sp>
        <p:nvSpPr>
          <p:cNvPr id="16" name="Rounded Rectangle 15"/>
          <p:cNvSpPr/>
          <p:nvPr/>
        </p:nvSpPr>
        <p:spPr>
          <a:xfrm>
            <a:off x="502920" y="3977639"/>
            <a:ext cx="7589520" cy="896112"/>
          </a:xfrm>
          <a:prstGeom prst="roundRect">
            <a:avLst>
              <a:gd name="adj" fmla="val 14285"/>
            </a:avLst>
          </a:prstGeom>
          <a:solidFill>
            <a:srgbClr val="FFFFFF">
              <a:alpha val="80000"/>
            </a:srgbClr>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76656" y="4233671"/>
            <a:ext cx="91440" cy="384048"/>
          </a:xfrm>
          <a:prstGeom prst="roundRect">
            <a:avLst>
              <a:gd name="adj" fmla="val 50000"/>
            </a:avLst>
          </a:prstGeom>
          <a:solidFill>
            <a:srgbClr val="18D6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0120" y="4105655"/>
            <a:ext cx="1371600" cy="640080"/>
          </a:xfrm>
          <a:prstGeom prst="rect">
            <a:avLst/>
          </a:prstGeom>
          <a:noFill/>
        </p:spPr>
        <p:txBody>
          <a:bodyPr wrap="square" lIns="0" rIns="0" tIns="0" bIns="0"/>
          <a:lstStyle/>
          <a:p>
            <a:pPr algn="l">
              <a:spcAft>
                <a:spcPts val="0"/>
              </a:spcAft>
            </a:pPr>
            <a:r>
              <a:rPr sz="1600" b="1">
                <a:solidFill>
                  <a:srgbClr val="092B3C"/>
                </a:solidFill>
                <a:latin typeface="Calibri"/>
              </a:rPr>
              <a:t>Role</a:t>
            </a:r>
          </a:p>
        </p:txBody>
      </p:sp>
      <p:sp>
        <p:nvSpPr>
          <p:cNvPr id="19" name="TextBox 18"/>
          <p:cNvSpPr txBox="1"/>
          <p:nvPr/>
        </p:nvSpPr>
        <p:spPr>
          <a:xfrm>
            <a:off x="2377440" y="4123943"/>
            <a:ext cx="5394960" cy="621792"/>
          </a:xfrm>
          <a:prstGeom prst="rect">
            <a:avLst/>
          </a:prstGeom>
          <a:noFill/>
        </p:spPr>
        <p:txBody>
          <a:bodyPr wrap="square" lIns="0" rIns="0" tIns="0" bIns="0"/>
          <a:lstStyle/>
          <a:p>
            <a:pPr algn="l">
              <a:spcAft>
                <a:spcPts val="0"/>
              </a:spcAft>
            </a:pPr>
            <a:r>
              <a:rPr sz="1400" b="0">
                <a:solidFill>
                  <a:srgbClr val="5E7482"/>
                </a:solidFill>
                <a:latin typeface="Calibri"/>
              </a:rPr>
              <a:t>The account is a parent. School, bank, and operator roles are not offered here.</a:t>
            </a:r>
          </a:p>
        </p:txBody>
      </p:sp>
      <p:sp>
        <p:nvSpPr>
          <p:cNvPr id="20" name="Rounded Rectangle 19"/>
          <p:cNvSpPr/>
          <p:nvPr/>
        </p:nvSpPr>
        <p:spPr>
          <a:xfrm>
            <a:off x="502920" y="4983480"/>
            <a:ext cx="7589520" cy="896112"/>
          </a:xfrm>
          <a:prstGeom prst="roundRect">
            <a:avLst>
              <a:gd name="adj" fmla="val 14285"/>
            </a:avLst>
          </a:prstGeom>
          <a:solidFill>
            <a:srgbClr val="FFFFFF">
              <a:alpha val="80000"/>
            </a:srgbClr>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76656" y="5239512"/>
            <a:ext cx="91440" cy="384048"/>
          </a:xfrm>
          <a:prstGeom prst="roundRect">
            <a:avLst>
              <a:gd name="adj" fmla="val 50000"/>
            </a:avLst>
          </a:prstGeom>
          <a:solidFill>
            <a:srgbClr val="18D6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0120" y="5111496"/>
            <a:ext cx="1371600" cy="640080"/>
          </a:xfrm>
          <a:prstGeom prst="rect">
            <a:avLst/>
          </a:prstGeom>
          <a:noFill/>
        </p:spPr>
        <p:txBody>
          <a:bodyPr wrap="square" lIns="0" rIns="0" tIns="0" bIns="0"/>
          <a:lstStyle/>
          <a:p>
            <a:pPr algn="l">
              <a:spcAft>
                <a:spcPts val="0"/>
              </a:spcAft>
            </a:pPr>
            <a:r>
              <a:rPr sz="1600" b="1">
                <a:solidFill>
                  <a:srgbClr val="092B3C"/>
                </a:solidFill>
                <a:latin typeface="Calibri"/>
              </a:rPr>
              <a:t>After</a:t>
            </a:r>
          </a:p>
        </p:txBody>
      </p:sp>
      <p:sp>
        <p:nvSpPr>
          <p:cNvPr id="23" name="TextBox 22"/>
          <p:cNvSpPr txBox="1"/>
          <p:nvPr/>
        </p:nvSpPr>
        <p:spPr>
          <a:xfrm>
            <a:off x="2377440" y="5129784"/>
            <a:ext cx="5394960" cy="621792"/>
          </a:xfrm>
          <a:prstGeom prst="rect">
            <a:avLst/>
          </a:prstGeom>
          <a:noFill/>
        </p:spPr>
        <p:txBody>
          <a:bodyPr wrap="square" lIns="0" rIns="0" tIns="0" bIns="0"/>
          <a:lstStyle/>
          <a:p>
            <a:pPr algn="l">
              <a:spcAft>
                <a:spcPts val="0"/>
              </a:spcAft>
            </a:pPr>
            <a:r>
              <a:rPr sz="1400" b="0">
                <a:solidFill>
                  <a:srgbClr val="5E7482"/>
                </a:solidFill>
                <a:latin typeface="Calibri"/>
              </a:rPr>
              <a:t>A welcome notice is saved. No child is linked until the parent does that on purpose.</a:t>
            </a:r>
          </a:p>
        </p:txBody>
      </p:sp>
      <p:sp>
        <p:nvSpPr>
          <p:cNvPr id="24" name="Rounded Rectangle 23"/>
          <p:cNvSpPr/>
          <p:nvPr/>
        </p:nvSpPr>
        <p:spPr>
          <a:xfrm>
            <a:off x="8732520" y="1417320"/>
            <a:ext cx="2834640" cy="4617720"/>
          </a:xfrm>
          <a:prstGeom prst="roundRect">
            <a:avLst>
              <a:gd name="adj" fmla="val 9032"/>
            </a:avLst>
          </a:prstGeom>
          <a:solidFill>
            <a:srgbClr val="FFFFFF">
              <a:alpha val="82000"/>
            </a:srgbClr>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9893808" y="1527048"/>
            <a:ext cx="512064" cy="54864"/>
          </a:xfrm>
          <a:prstGeom prst="roundRect">
            <a:avLst>
              <a:gd name="adj" fmla="val 50000"/>
            </a:avLst>
          </a:prstGeom>
          <a:solidFill>
            <a:srgbClr val="E3EE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878824" y="1709928"/>
            <a:ext cx="2542032" cy="292608"/>
          </a:xfrm>
          <a:prstGeom prst="rect">
            <a:avLst/>
          </a:prstGeom>
          <a:noFill/>
        </p:spPr>
        <p:txBody>
          <a:bodyPr wrap="square" lIns="0" rIns="0" tIns="0" bIns="0"/>
          <a:lstStyle/>
          <a:p>
            <a:pPr algn="l">
              <a:spcAft>
                <a:spcPts val="0"/>
              </a:spcAft>
            </a:pPr>
            <a:r>
              <a:rPr sz="1600" b="1">
                <a:solidFill>
                  <a:srgbClr val="092B3C"/>
                </a:solidFill>
                <a:latin typeface="Calibri"/>
              </a:rPr>
              <a:t>Create account</a:t>
            </a:r>
          </a:p>
        </p:txBody>
      </p:sp>
      <p:sp>
        <p:nvSpPr>
          <p:cNvPr id="27" name="TextBox 26"/>
          <p:cNvSpPr txBox="1"/>
          <p:nvPr/>
        </p:nvSpPr>
        <p:spPr>
          <a:xfrm>
            <a:off x="8878824" y="2167128"/>
            <a:ext cx="2542032" cy="182880"/>
          </a:xfrm>
          <a:prstGeom prst="rect">
            <a:avLst/>
          </a:prstGeom>
          <a:noFill/>
        </p:spPr>
        <p:txBody>
          <a:bodyPr wrap="square" lIns="0" rIns="0" tIns="0" bIns="0"/>
          <a:lstStyle/>
          <a:p>
            <a:pPr algn="l">
              <a:spcAft>
                <a:spcPts val="0"/>
              </a:spcAft>
            </a:pPr>
            <a:r>
              <a:rPr sz="1000" b="1">
                <a:solidFill>
                  <a:srgbClr val="5E7482"/>
                </a:solidFill>
                <a:latin typeface="Calibri"/>
              </a:rPr>
              <a:t>FULL NAME</a:t>
            </a:r>
          </a:p>
        </p:txBody>
      </p:sp>
      <p:sp>
        <p:nvSpPr>
          <p:cNvPr id="28" name="Rounded Rectangle 27"/>
          <p:cNvSpPr/>
          <p:nvPr/>
        </p:nvSpPr>
        <p:spPr>
          <a:xfrm>
            <a:off x="8878824" y="2368296"/>
            <a:ext cx="2542032" cy="347472"/>
          </a:xfrm>
          <a:prstGeom prst="roundRect">
            <a:avLst>
              <a:gd name="adj" fmla="val 21052"/>
            </a:avLst>
          </a:prstGeom>
          <a:solidFill>
            <a:srgbClr val="FFFFFF">
              <a:alpha val="95000"/>
            </a:srgbClr>
          </a:solidFill>
          <a:ln w="9525">
            <a:solidFill>
              <a:srgbClr val="E3EE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878824" y="2825496"/>
            <a:ext cx="2542032" cy="182880"/>
          </a:xfrm>
          <a:prstGeom prst="rect">
            <a:avLst/>
          </a:prstGeom>
          <a:noFill/>
        </p:spPr>
        <p:txBody>
          <a:bodyPr wrap="square" lIns="0" rIns="0" tIns="0" bIns="0"/>
          <a:lstStyle/>
          <a:p>
            <a:pPr algn="l">
              <a:spcAft>
                <a:spcPts val="0"/>
              </a:spcAft>
            </a:pPr>
            <a:r>
              <a:rPr sz="1000" b="1">
                <a:solidFill>
                  <a:srgbClr val="5E7482"/>
                </a:solidFill>
                <a:latin typeface="Calibri"/>
              </a:rPr>
              <a:t>PHONE</a:t>
            </a:r>
          </a:p>
        </p:txBody>
      </p:sp>
      <p:sp>
        <p:nvSpPr>
          <p:cNvPr id="30" name="Rounded Rectangle 29"/>
          <p:cNvSpPr/>
          <p:nvPr/>
        </p:nvSpPr>
        <p:spPr>
          <a:xfrm>
            <a:off x="8878824" y="3026664"/>
            <a:ext cx="2542032" cy="347472"/>
          </a:xfrm>
          <a:prstGeom prst="roundRect">
            <a:avLst>
              <a:gd name="adj" fmla="val 21052"/>
            </a:avLst>
          </a:prstGeom>
          <a:solidFill>
            <a:srgbClr val="FFFFFF">
              <a:alpha val="95000"/>
            </a:srgbClr>
          </a:solidFill>
          <a:ln w="9525">
            <a:solidFill>
              <a:srgbClr val="E3EE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878824" y="3483864"/>
            <a:ext cx="2542032" cy="182880"/>
          </a:xfrm>
          <a:prstGeom prst="rect">
            <a:avLst/>
          </a:prstGeom>
          <a:noFill/>
        </p:spPr>
        <p:txBody>
          <a:bodyPr wrap="square" lIns="0" rIns="0" tIns="0" bIns="0"/>
          <a:lstStyle/>
          <a:p>
            <a:pPr algn="l">
              <a:spcAft>
                <a:spcPts val="0"/>
              </a:spcAft>
            </a:pPr>
            <a:r>
              <a:rPr sz="1000" b="1">
                <a:solidFill>
                  <a:srgbClr val="5E7482"/>
                </a:solidFill>
                <a:latin typeface="Calibri"/>
              </a:rPr>
              <a:t>EMAIL</a:t>
            </a:r>
          </a:p>
        </p:txBody>
      </p:sp>
      <p:sp>
        <p:nvSpPr>
          <p:cNvPr id="32" name="Rounded Rectangle 31"/>
          <p:cNvSpPr/>
          <p:nvPr/>
        </p:nvSpPr>
        <p:spPr>
          <a:xfrm>
            <a:off x="8878824" y="3685032"/>
            <a:ext cx="2542032" cy="347472"/>
          </a:xfrm>
          <a:prstGeom prst="roundRect">
            <a:avLst>
              <a:gd name="adj" fmla="val 21052"/>
            </a:avLst>
          </a:prstGeom>
          <a:solidFill>
            <a:srgbClr val="FFFFFF">
              <a:alpha val="95000"/>
            </a:srgbClr>
          </a:solidFill>
          <a:ln w="9525">
            <a:solidFill>
              <a:srgbClr val="E3EE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878824" y="4142232"/>
            <a:ext cx="2542032" cy="182880"/>
          </a:xfrm>
          <a:prstGeom prst="rect">
            <a:avLst/>
          </a:prstGeom>
          <a:noFill/>
        </p:spPr>
        <p:txBody>
          <a:bodyPr wrap="square" lIns="0" rIns="0" tIns="0" bIns="0"/>
          <a:lstStyle/>
          <a:p>
            <a:pPr algn="l">
              <a:spcAft>
                <a:spcPts val="0"/>
              </a:spcAft>
            </a:pPr>
            <a:r>
              <a:rPr sz="1000" b="1">
                <a:solidFill>
                  <a:srgbClr val="5E7482"/>
                </a:solidFill>
                <a:latin typeface="Calibri"/>
              </a:rPr>
              <a:t>PASSWORD</a:t>
            </a:r>
          </a:p>
        </p:txBody>
      </p:sp>
      <p:sp>
        <p:nvSpPr>
          <p:cNvPr id="34" name="Rounded Rectangle 33"/>
          <p:cNvSpPr/>
          <p:nvPr/>
        </p:nvSpPr>
        <p:spPr>
          <a:xfrm>
            <a:off x="8878824" y="4343400"/>
            <a:ext cx="2542032" cy="347472"/>
          </a:xfrm>
          <a:prstGeom prst="roundRect">
            <a:avLst>
              <a:gd name="adj" fmla="val 21052"/>
            </a:avLst>
          </a:prstGeom>
          <a:solidFill>
            <a:srgbClr val="FFFFFF">
              <a:alpha val="95000"/>
            </a:srgbClr>
          </a:solidFill>
          <a:ln w="9525">
            <a:solidFill>
              <a:srgbClr val="E3EE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8878824" y="4910328"/>
            <a:ext cx="2542032" cy="502920"/>
          </a:xfrm>
          <a:prstGeom prst="roundRect">
            <a:avLst>
              <a:gd name="adj" fmla="val 18181"/>
            </a:avLst>
          </a:prstGeom>
          <a:solidFill>
            <a:srgbClr val="C7F7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970264" y="4983480"/>
            <a:ext cx="2395728" cy="365760"/>
          </a:xfrm>
          <a:prstGeom prst="rect">
            <a:avLst/>
          </a:prstGeom>
          <a:noFill/>
        </p:spPr>
        <p:txBody>
          <a:bodyPr wrap="square" lIns="0" rIns="0" tIns="0" bIns="0"/>
          <a:lstStyle/>
          <a:p>
            <a:pPr algn="l">
              <a:spcAft>
                <a:spcPts val="0"/>
              </a:spcAft>
            </a:pPr>
            <a:r>
              <a:rPr sz="1100" b="0">
                <a:solidFill>
                  <a:srgbClr val="092B3C"/>
                </a:solidFill>
                <a:latin typeface="Calibri"/>
              </a:rPr>
              <a:t>I accept parental-responsibility consent</a:t>
            </a:r>
          </a:p>
        </p:txBody>
      </p:sp>
      <p:sp>
        <p:nvSpPr>
          <p:cNvPr id="37" name="Rounded Rectangle 36"/>
          <p:cNvSpPr/>
          <p:nvPr/>
        </p:nvSpPr>
        <p:spPr>
          <a:xfrm>
            <a:off x="8878824" y="5550408"/>
            <a:ext cx="2542032" cy="384048"/>
          </a:xfrm>
          <a:prstGeom prst="roundRect">
            <a:avLst>
              <a:gd name="adj" fmla="val 23809"/>
            </a:avLst>
          </a:prstGeom>
          <a:solidFill>
            <a:srgbClr val="09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878824" y="5623560"/>
            <a:ext cx="2542032" cy="256032"/>
          </a:xfrm>
          <a:prstGeom prst="rect">
            <a:avLst/>
          </a:prstGeom>
          <a:noFill/>
        </p:spPr>
        <p:txBody>
          <a:bodyPr wrap="square" lIns="0" rIns="0" tIns="0" bIns="0"/>
          <a:lstStyle/>
          <a:p>
            <a:pPr algn="ctr">
              <a:spcAft>
                <a:spcPts val="0"/>
              </a:spcAft>
            </a:pPr>
            <a:r>
              <a:rPr sz="1300" b="1">
                <a:solidFill>
                  <a:srgbClr val="FFFFFF"/>
                </a:solidFill>
                <a:latin typeface="Calibri"/>
              </a:rPr>
              <a:t>Create account</a:t>
            </a:r>
          </a:p>
        </p:txBody>
      </p:sp>
      <p:sp>
        <p:nvSpPr>
          <p:cNvPr id="39" name="TextBox 38"/>
          <p:cNvSpPr txBox="1"/>
          <p:nvPr/>
        </p:nvSpPr>
        <p:spPr>
          <a:xfrm>
            <a:off x="502920" y="6473952"/>
            <a:ext cx="7315200" cy="256032"/>
          </a:xfrm>
          <a:prstGeom prst="rect">
            <a:avLst/>
          </a:prstGeom>
          <a:noFill/>
        </p:spPr>
        <p:txBody>
          <a:bodyPr wrap="square" lIns="0" rIns="0" tIns="0" bIns="0"/>
          <a:lstStyle/>
          <a:p>
            <a:pPr algn="l">
              <a:spcAft>
                <a:spcPts val="0"/>
              </a:spcAft>
            </a:pPr>
            <a:r>
              <a:rPr sz="1100" b="0">
                <a:solidFill>
                  <a:srgbClr val="5E7482"/>
                </a:solidFill>
                <a:latin typeface="Calibri"/>
              </a:rPr>
              <a:t>RUPSA NEXT   ·   Parent &amp; Guardian mobile</a:t>
            </a:r>
          </a:p>
        </p:txBody>
      </p:sp>
      <p:sp>
        <p:nvSpPr>
          <p:cNvPr id="40" name="TextBox 39"/>
          <p:cNvSpPr txBox="1"/>
          <p:nvPr/>
        </p:nvSpPr>
        <p:spPr>
          <a:xfrm>
            <a:off x="10241280" y="6473952"/>
            <a:ext cx="1417320" cy="256032"/>
          </a:xfrm>
          <a:prstGeom prst="rect">
            <a:avLst/>
          </a:prstGeom>
          <a:noFill/>
        </p:spPr>
        <p:txBody>
          <a:bodyPr wrap="square" lIns="0" rIns="0" tIns="0" bIns="0"/>
          <a:lstStyle/>
          <a:p>
            <a:pPr algn="r">
              <a:spcAft>
                <a:spcPts val="0"/>
              </a:spcAft>
            </a:pPr>
            <a:r>
              <a:rPr sz="1100" b="0">
                <a:solidFill>
                  <a:srgbClr val="5E7482"/>
                </a:solidFill>
                <a:latin typeface="Calibri"/>
              </a:rPr>
              <a:t>4  /  12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595360" y="-1463040"/>
            <a:ext cx="4754880" cy="4754880"/>
          </a:xfrm>
          <a:prstGeom prst="ellipse">
            <a:avLst/>
          </a:prstGeom>
          <a:solidFill>
            <a:srgbClr val="18D6B4">
              <a:alpha val="2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45920" y="4206240"/>
            <a:ext cx="4206240" cy="4206240"/>
          </a:xfrm>
          <a:prstGeom prst="ellipse">
            <a:avLst/>
          </a:prstGeom>
          <a:solidFill>
            <a:srgbClr val="092B3C">
              <a:alpha val="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292608"/>
            <a:ext cx="7772400" cy="256032"/>
          </a:xfrm>
          <a:prstGeom prst="rect">
            <a:avLst/>
          </a:prstGeom>
          <a:noFill/>
        </p:spPr>
        <p:txBody>
          <a:bodyPr wrap="square" lIns="0" rIns="0" tIns="0" bIns="0"/>
          <a:lstStyle/>
          <a:p>
            <a:pPr algn="l">
              <a:spcAft>
                <a:spcPts val="0"/>
              </a:spcAft>
            </a:pPr>
            <a:r>
              <a:rPr sz="1200" b="1">
                <a:solidFill>
                  <a:srgbClr val="18D6B4"/>
                </a:solidFill>
                <a:latin typeface="Calibri"/>
              </a:rPr>
              <a:t>AUTHORIZE</a:t>
            </a:r>
          </a:p>
        </p:txBody>
      </p:sp>
      <p:sp>
        <p:nvSpPr>
          <p:cNvPr id="6" name="TextBox 5"/>
          <p:cNvSpPr txBox="1"/>
          <p:nvPr/>
        </p:nvSpPr>
        <p:spPr>
          <a:xfrm>
            <a:off x="502920" y="530352"/>
            <a:ext cx="8046720" cy="502920"/>
          </a:xfrm>
          <a:prstGeom prst="rect">
            <a:avLst/>
          </a:prstGeom>
          <a:noFill/>
        </p:spPr>
        <p:txBody>
          <a:bodyPr wrap="square" lIns="0" rIns="0" tIns="0" bIns="0"/>
          <a:lstStyle/>
          <a:p>
            <a:pPr algn="l">
              <a:spcAft>
                <a:spcPts val="0"/>
              </a:spcAft>
            </a:pPr>
            <a:r>
              <a:rPr sz="3000" b="1">
                <a:solidFill>
                  <a:srgbClr val="092B3C"/>
                </a:solidFill>
                <a:latin typeface="Calibri"/>
              </a:rPr>
              <a:t>A child’s records stay closed until consent is active</a:t>
            </a:r>
          </a:p>
        </p:txBody>
      </p:sp>
      <p:sp>
        <p:nvSpPr>
          <p:cNvPr id="7" name="TextBox 6"/>
          <p:cNvSpPr txBox="1"/>
          <p:nvPr/>
        </p:nvSpPr>
        <p:spPr>
          <a:xfrm>
            <a:off x="502920" y="1078992"/>
            <a:ext cx="7863840" cy="640080"/>
          </a:xfrm>
          <a:prstGeom prst="rect">
            <a:avLst/>
          </a:prstGeom>
          <a:noFill/>
        </p:spPr>
        <p:txBody>
          <a:bodyPr wrap="square" lIns="0" rIns="0" tIns="0" bIns="0"/>
          <a:lstStyle/>
          <a:p>
            <a:pPr algn="l">
              <a:spcAft>
                <a:spcPts val="0"/>
              </a:spcAft>
            </a:pPr>
            <a:r>
              <a:rPr sz="1500" b="0">
                <a:solidFill>
                  <a:srgbClr val="5E7482"/>
                </a:solidFill>
                <a:latin typeface="Calibri"/>
              </a:rPr>
              <a:t>This is the safeguard for children’s personal data. The parent can give it, and can withdraw it.</a:t>
            </a:r>
          </a:p>
        </p:txBody>
      </p:sp>
      <p:sp>
        <p:nvSpPr>
          <p:cNvPr id="8" name="Rounded Rectangle 7"/>
          <p:cNvSpPr/>
          <p:nvPr/>
        </p:nvSpPr>
        <p:spPr>
          <a:xfrm>
            <a:off x="502920" y="1965960"/>
            <a:ext cx="7498079" cy="1965960"/>
          </a:xfrm>
          <a:prstGeom prst="roundRect">
            <a:avLst>
              <a:gd name="adj" fmla="val 8372"/>
            </a:avLst>
          </a:prstGeom>
          <a:solidFill>
            <a:srgbClr val="FFFFFF">
              <a:alpha val="82000"/>
            </a:srgbClr>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2148840"/>
            <a:ext cx="3108960" cy="274320"/>
          </a:xfrm>
          <a:prstGeom prst="rect">
            <a:avLst/>
          </a:prstGeom>
          <a:noFill/>
        </p:spPr>
        <p:txBody>
          <a:bodyPr wrap="square" lIns="0" rIns="0" tIns="0" bIns="0"/>
          <a:lstStyle/>
          <a:p>
            <a:pPr algn="l">
              <a:spcAft>
                <a:spcPts val="0"/>
              </a:spcAft>
            </a:pPr>
            <a:r>
              <a:rPr sz="1300" b="1">
                <a:solidFill>
                  <a:srgbClr val="18D6B4"/>
                </a:solidFill>
                <a:latin typeface="Calibri"/>
              </a:rPr>
              <a:t>Withheld</a:t>
            </a:r>
          </a:p>
        </p:txBody>
      </p:sp>
      <p:sp>
        <p:nvSpPr>
          <p:cNvPr id="10" name="TextBox 9"/>
          <p:cNvSpPr txBox="1"/>
          <p:nvPr/>
        </p:nvSpPr>
        <p:spPr>
          <a:xfrm>
            <a:off x="731520" y="2468880"/>
            <a:ext cx="3200400" cy="640080"/>
          </a:xfrm>
          <a:prstGeom prst="rect">
            <a:avLst/>
          </a:prstGeom>
          <a:noFill/>
        </p:spPr>
        <p:txBody>
          <a:bodyPr wrap="square" lIns="0" rIns="0" tIns="0" bIns="0"/>
          <a:lstStyle/>
          <a:p>
            <a:pPr algn="l">
              <a:spcAft>
                <a:spcPts val="0"/>
              </a:spcAft>
            </a:pPr>
            <a:r>
              <a:rPr sz="1500" b="1">
                <a:solidFill>
                  <a:srgbClr val="092B3C"/>
                </a:solidFill>
                <a:latin typeface="Calibri"/>
              </a:rPr>
              <a:t>No students, fees, receipts, or schools on the home screen.</a:t>
            </a:r>
          </a:p>
        </p:txBody>
      </p:sp>
      <p:sp>
        <p:nvSpPr>
          <p:cNvPr id="11" name="TextBox 10"/>
          <p:cNvSpPr txBox="1"/>
          <p:nvPr/>
        </p:nvSpPr>
        <p:spPr>
          <a:xfrm>
            <a:off x="731520" y="3154680"/>
            <a:ext cx="3200400" cy="548640"/>
          </a:xfrm>
          <a:prstGeom prst="rect">
            <a:avLst/>
          </a:prstGeom>
          <a:noFill/>
        </p:spPr>
        <p:txBody>
          <a:bodyPr wrap="square" lIns="0" rIns="0" tIns="0" bIns="0"/>
          <a:lstStyle/>
          <a:p>
            <a:pPr algn="l">
              <a:spcAft>
                <a:spcPts val="0"/>
              </a:spcAft>
            </a:pPr>
            <a:r>
              <a:rPr sz="1300" b="0">
                <a:solidFill>
                  <a:srgbClr val="5E7482"/>
                </a:solidFill>
                <a:latin typeface="Calibri"/>
              </a:rPr>
              <a:t>The parent still sees their own contact, identity, and the request to authorize.</a:t>
            </a:r>
          </a:p>
        </p:txBody>
      </p:sp>
      <p:sp>
        <p:nvSpPr>
          <p:cNvPr id="12" name="Rounded Rectangle 11"/>
          <p:cNvSpPr/>
          <p:nvPr/>
        </p:nvSpPr>
        <p:spPr>
          <a:xfrm>
            <a:off x="4297680" y="2240280"/>
            <a:ext cx="73152" cy="1417320"/>
          </a:xfrm>
          <a:prstGeom prst="roundRect">
            <a:avLst>
              <a:gd name="adj" fmla="val 50000"/>
            </a:avLst>
          </a:prstGeom>
          <a:solidFill>
            <a:srgbClr val="18D6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17720" y="2148840"/>
            <a:ext cx="3108960" cy="274320"/>
          </a:xfrm>
          <a:prstGeom prst="rect">
            <a:avLst/>
          </a:prstGeom>
          <a:noFill/>
        </p:spPr>
        <p:txBody>
          <a:bodyPr wrap="square" lIns="0" rIns="0" tIns="0" bIns="0"/>
          <a:lstStyle/>
          <a:p>
            <a:pPr algn="l">
              <a:spcAft>
                <a:spcPts val="0"/>
              </a:spcAft>
            </a:pPr>
            <a:r>
              <a:rPr sz="1300" b="1">
                <a:solidFill>
                  <a:srgbClr val="18D6B4"/>
                </a:solidFill>
                <a:latin typeface="Calibri"/>
              </a:rPr>
              <a:t>Available</a:t>
            </a:r>
          </a:p>
        </p:txBody>
      </p:sp>
      <p:sp>
        <p:nvSpPr>
          <p:cNvPr id="14" name="TextBox 13"/>
          <p:cNvSpPr txBox="1"/>
          <p:nvPr/>
        </p:nvSpPr>
        <p:spPr>
          <a:xfrm>
            <a:off x="4617720" y="2468880"/>
            <a:ext cx="3108960" cy="640080"/>
          </a:xfrm>
          <a:prstGeom prst="rect">
            <a:avLst/>
          </a:prstGeom>
          <a:noFill/>
        </p:spPr>
        <p:txBody>
          <a:bodyPr wrap="square" lIns="0" rIns="0" tIns="0" bIns="0"/>
          <a:lstStyle/>
          <a:p>
            <a:pPr algn="l">
              <a:spcAft>
                <a:spcPts val="0"/>
              </a:spcAft>
            </a:pPr>
            <a:r>
              <a:rPr sz="1500" b="1">
                <a:solidFill>
                  <a:srgbClr val="092B3C"/>
                </a:solidFill>
                <a:latin typeface="Calibri"/>
              </a:rPr>
              <a:t>Linked children, outstanding fees, history, and receipts appear.</a:t>
            </a:r>
          </a:p>
        </p:txBody>
      </p:sp>
      <p:sp>
        <p:nvSpPr>
          <p:cNvPr id="15" name="TextBox 14"/>
          <p:cNvSpPr txBox="1"/>
          <p:nvPr/>
        </p:nvSpPr>
        <p:spPr>
          <a:xfrm>
            <a:off x="4617720" y="3154680"/>
            <a:ext cx="3108960" cy="548640"/>
          </a:xfrm>
          <a:prstGeom prst="rect">
            <a:avLst/>
          </a:prstGeom>
          <a:noFill/>
        </p:spPr>
        <p:txBody>
          <a:bodyPr wrap="square" lIns="0" rIns="0" tIns="0" bIns="0"/>
          <a:lstStyle/>
          <a:p>
            <a:pPr algn="l">
              <a:spcAft>
                <a:spcPts val="0"/>
              </a:spcAft>
            </a:pPr>
            <a:r>
              <a:rPr sz="1300" b="0">
                <a:solidFill>
                  <a:srgbClr val="5E7482"/>
                </a:solidFill>
                <a:latin typeface="Calibri"/>
              </a:rPr>
              <a:t>Withdrawing consent hides those records again.</a:t>
            </a:r>
          </a:p>
        </p:txBody>
      </p:sp>
      <p:sp>
        <p:nvSpPr>
          <p:cNvPr id="16" name="TextBox 15"/>
          <p:cNvSpPr txBox="1"/>
          <p:nvPr/>
        </p:nvSpPr>
        <p:spPr>
          <a:xfrm>
            <a:off x="502920" y="4114800"/>
            <a:ext cx="2743200" cy="256032"/>
          </a:xfrm>
          <a:prstGeom prst="rect">
            <a:avLst/>
          </a:prstGeom>
          <a:noFill/>
        </p:spPr>
        <p:txBody>
          <a:bodyPr wrap="square" lIns="0" rIns="0" tIns="0" bIns="0"/>
          <a:lstStyle/>
          <a:p>
            <a:pPr algn="l">
              <a:spcAft>
                <a:spcPts val="0"/>
              </a:spcAft>
            </a:pPr>
            <a:r>
              <a:rPr sz="1300" b="1">
                <a:solidFill>
                  <a:srgbClr val="5E7482"/>
                </a:solidFill>
                <a:latin typeface="Calibri"/>
              </a:rPr>
              <a:t>Consent covers</a:t>
            </a:r>
          </a:p>
        </p:txBody>
      </p:sp>
      <p:sp>
        <p:nvSpPr>
          <p:cNvPr id="17" name="Rounded Rectangle 16"/>
          <p:cNvSpPr/>
          <p:nvPr/>
        </p:nvSpPr>
        <p:spPr>
          <a:xfrm>
            <a:off x="502920" y="4462272"/>
            <a:ext cx="2331720" cy="365760"/>
          </a:xfrm>
          <a:prstGeom prst="roundRect">
            <a:avLst>
              <a:gd name="adj" fmla="val 40000"/>
            </a:avLst>
          </a:prstGeom>
          <a:solidFill>
            <a:srgbClr val="FFFFFF">
              <a:alpha val="85000"/>
            </a:srgbClr>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4517136"/>
            <a:ext cx="2331720" cy="256032"/>
          </a:xfrm>
          <a:prstGeom prst="rect">
            <a:avLst/>
          </a:prstGeom>
          <a:noFill/>
        </p:spPr>
        <p:txBody>
          <a:bodyPr wrap="square" lIns="0" rIns="0" tIns="0" bIns="0"/>
          <a:lstStyle/>
          <a:p>
            <a:pPr algn="ctr">
              <a:spcAft>
                <a:spcPts val="0"/>
              </a:spcAft>
            </a:pPr>
            <a:r>
              <a:rPr sz="1300" b="1">
                <a:solidFill>
                  <a:srgbClr val="092B3C"/>
                </a:solidFill>
                <a:latin typeface="Calibri"/>
              </a:rPr>
              <a:t>Identity</a:t>
            </a:r>
          </a:p>
        </p:txBody>
      </p:sp>
      <p:sp>
        <p:nvSpPr>
          <p:cNvPr id="19" name="Rounded Rectangle 18"/>
          <p:cNvSpPr/>
          <p:nvPr/>
        </p:nvSpPr>
        <p:spPr>
          <a:xfrm>
            <a:off x="2971800" y="4462272"/>
            <a:ext cx="2331720" cy="365760"/>
          </a:xfrm>
          <a:prstGeom prst="roundRect">
            <a:avLst>
              <a:gd name="adj" fmla="val 40000"/>
            </a:avLst>
          </a:prstGeom>
          <a:solidFill>
            <a:srgbClr val="FFFFFF">
              <a:alpha val="85000"/>
            </a:srgbClr>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971800" y="4517136"/>
            <a:ext cx="2331720" cy="256032"/>
          </a:xfrm>
          <a:prstGeom prst="rect">
            <a:avLst/>
          </a:prstGeom>
          <a:noFill/>
        </p:spPr>
        <p:txBody>
          <a:bodyPr wrap="square" lIns="0" rIns="0" tIns="0" bIns="0"/>
          <a:lstStyle/>
          <a:p>
            <a:pPr algn="ctr">
              <a:spcAft>
                <a:spcPts val="0"/>
              </a:spcAft>
            </a:pPr>
            <a:r>
              <a:rPr sz="1300" b="1">
                <a:solidFill>
                  <a:srgbClr val="092B3C"/>
                </a:solidFill>
                <a:latin typeface="Calibri"/>
              </a:rPr>
              <a:t>Enrolment</a:t>
            </a:r>
          </a:p>
        </p:txBody>
      </p:sp>
      <p:sp>
        <p:nvSpPr>
          <p:cNvPr id="21" name="Rounded Rectangle 20"/>
          <p:cNvSpPr/>
          <p:nvPr/>
        </p:nvSpPr>
        <p:spPr>
          <a:xfrm>
            <a:off x="5440680" y="4462272"/>
            <a:ext cx="2331720" cy="365760"/>
          </a:xfrm>
          <a:prstGeom prst="roundRect">
            <a:avLst>
              <a:gd name="adj" fmla="val 40000"/>
            </a:avLst>
          </a:prstGeom>
          <a:solidFill>
            <a:srgbClr val="FFFFFF">
              <a:alpha val="85000"/>
            </a:srgbClr>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40680" y="4517136"/>
            <a:ext cx="2331720" cy="256032"/>
          </a:xfrm>
          <a:prstGeom prst="rect">
            <a:avLst/>
          </a:prstGeom>
          <a:noFill/>
        </p:spPr>
        <p:txBody>
          <a:bodyPr wrap="square" lIns="0" rIns="0" tIns="0" bIns="0"/>
          <a:lstStyle/>
          <a:p>
            <a:pPr algn="ctr">
              <a:spcAft>
                <a:spcPts val="0"/>
              </a:spcAft>
            </a:pPr>
            <a:r>
              <a:rPr sz="1300" b="1">
                <a:solidFill>
                  <a:srgbClr val="092B3C"/>
                </a:solidFill>
                <a:latin typeface="Calibri"/>
              </a:rPr>
              <a:t>Outstanding fees</a:t>
            </a:r>
          </a:p>
        </p:txBody>
      </p:sp>
      <p:sp>
        <p:nvSpPr>
          <p:cNvPr id="23" name="Rounded Rectangle 22"/>
          <p:cNvSpPr/>
          <p:nvPr/>
        </p:nvSpPr>
        <p:spPr>
          <a:xfrm>
            <a:off x="502920" y="4919472"/>
            <a:ext cx="2331720" cy="365760"/>
          </a:xfrm>
          <a:prstGeom prst="roundRect">
            <a:avLst>
              <a:gd name="adj" fmla="val 40000"/>
            </a:avLst>
          </a:prstGeom>
          <a:solidFill>
            <a:srgbClr val="FFFFFF">
              <a:alpha val="85000"/>
            </a:srgbClr>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02920" y="4974336"/>
            <a:ext cx="2331720" cy="256032"/>
          </a:xfrm>
          <a:prstGeom prst="rect">
            <a:avLst/>
          </a:prstGeom>
          <a:noFill/>
        </p:spPr>
        <p:txBody>
          <a:bodyPr wrap="square" lIns="0" rIns="0" tIns="0" bIns="0"/>
          <a:lstStyle/>
          <a:p>
            <a:pPr algn="ctr">
              <a:spcAft>
                <a:spcPts val="0"/>
              </a:spcAft>
            </a:pPr>
            <a:r>
              <a:rPr sz="1300" b="1">
                <a:solidFill>
                  <a:srgbClr val="092B3C"/>
                </a:solidFill>
                <a:latin typeface="Calibri"/>
              </a:rPr>
              <a:t>Payment history</a:t>
            </a:r>
          </a:p>
        </p:txBody>
      </p:sp>
      <p:sp>
        <p:nvSpPr>
          <p:cNvPr id="25" name="Rounded Rectangle 24"/>
          <p:cNvSpPr/>
          <p:nvPr/>
        </p:nvSpPr>
        <p:spPr>
          <a:xfrm>
            <a:off x="2971800" y="4919472"/>
            <a:ext cx="2331720" cy="365760"/>
          </a:xfrm>
          <a:prstGeom prst="roundRect">
            <a:avLst>
              <a:gd name="adj" fmla="val 40000"/>
            </a:avLst>
          </a:prstGeom>
          <a:solidFill>
            <a:srgbClr val="FFFFFF">
              <a:alpha val="85000"/>
            </a:srgbClr>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971800" y="4974336"/>
            <a:ext cx="2331720" cy="256032"/>
          </a:xfrm>
          <a:prstGeom prst="rect">
            <a:avLst/>
          </a:prstGeom>
          <a:noFill/>
        </p:spPr>
        <p:txBody>
          <a:bodyPr wrap="square" lIns="0" rIns="0" tIns="0" bIns="0"/>
          <a:lstStyle/>
          <a:p>
            <a:pPr algn="ctr">
              <a:spcAft>
                <a:spcPts val="0"/>
              </a:spcAft>
            </a:pPr>
            <a:r>
              <a:rPr sz="1300" b="1">
                <a:solidFill>
                  <a:srgbClr val="092B3C"/>
                </a:solidFill>
                <a:latin typeface="Calibri"/>
              </a:rPr>
              <a:t>Receipts</a:t>
            </a:r>
          </a:p>
        </p:txBody>
      </p:sp>
      <p:sp>
        <p:nvSpPr>
          <p:cNvPr id="27" name="Rounded Rectangle 26"/>
          <p:cNvSpPr/>
          <p:nvPr/>
        </p:nvSpPr>
        <p:spPr>
          <a:xfrm>
            <a:off x="5440680" y="4919472"/>
            <a:ext cx="2331720" cy="365760"/>
          </a:xfrm>
          <a:prstGeom prst="roundRect">
            <a:avLst>
              <a:gd name="adj" fmla="val 40000"/>
            </a:avLst>
          </a:prstGeom>
          <a:solidFill>
            <a:srgbClr val="FFFFFF">
              <a:alpha val="85000"/>
            </a:srgbClr>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440680" y="4974336"/>
            <a:ext cx="2331720" cy="256032"/>
          </a:xfrm>
          <a:prstGeom prst="rect">
            <a:avLst/>
          </a:prstGeom>
          <a:noFill/>
        </p:spPr>
        <p:txBody>
          <a:bodyPr wrap="square" lIns="0" rIns="0" tIns="0" bIns="0"/>
          <a:lstStyle/>
          <a:p>
            <a:pPr algn="ctr">
              <a:spcAft>
                <a:spcPts val="0"/>
              </a:spcAft>
            </a:pPr>
            <a:r>
              <a:rPr sz="1300" b="1">
                <a:solidFill>
                  <a:srgbClr val="092B3C"/>
                </a:solidFill>
                <a:latin typeface="Calibri"/>
              </a:rPr>
              <a:t>Notices</a:t>
            </a:r>
          </a:p>
        </p:txBody>
      </p:sp>
      <p:sp>
        <p:nvSpPr>
          <p:cNvPr id="29" name="TextBox 28"/>
          <p:cNvSpPr txBox="1"/>
          <p:nvPr/>
        </p:nvSpPr>
        <p:spPr>
          <a:xfrm>
            <a:off x="502920" y="5486400"/>
            <a:ext cx="7680960" cy="320040"/>
          </a:xfrm>
          <a:prstGeom prst="rect">
            <a:avLst/>
          </a:prstGeom>
          <a:noFill/>
        </p:spPr>
        <p:txBody>
          <a:bodyPr wrap="square" lIns="0" rIns="0" tIns="0" bIns="0"/>
          <a:lstStyle/>
          <a:p>
            <a:pPr algn="l">
              <a:spcAft>
                <a:spcPts val="0"/>
              </a:spcAft>
            </a:pPr>
            <a:r>
              <a:rPr sz="1400" b="0">
                <a:solidFill>
                  <a:srgbClr val="5E7482"/>
                </a:solidFill>
                <a:latin typeface="Calibri"/>
              </a:rPr>
              <a:t>It lasts two years. Withdraw it from You, under Authorization.</a:t>
            </a:r>
          </a:p>
        </p:txBody>
      </p:sp>
      <p:sp>
        <p:nvSpPr>
          <p:cNvPr id="30" name="Rounded Rectangle 29"/>
          <p:cNvSpPr/>
          <p:nvPr/>
        </p:nvSpPr>
        <p:spPr>
          <a:xfrm>
            <a:off x="8732520" y="1554480"/>
            <a:ext cx="2834640" cy="4434840"/>
          </a:xfrm>
          <a:prstGeom prst="roundRect">
            <a:avLst>
              <a:gd name="adj" fmla="val 9032"/>
            </a:avLst>
          </a:prstGeom>
          <a:solidFill>
            <a:srgbClr val="FFFFFF">
              <a:alpha val="82000"/>
            </a:srgbClr>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9893808" y="1664208"/>
            <a:ext cx="512064" cy="54864"/>
          </a:xfrm>
          <a:prstGeom prst="roundRect">
            <a:avLst>
              <a:gd name="adj" fmla="val 50000"/>
            </a:avLst>
          </a:prstGeom>
          <a:solidFill>
            <a:srgbClr val="E3EE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878824" y="1847088"/>
            <a:ext cx="2542032" cy="274320"/>
          </a:xfrm>
          <a:prstGeom prst="rect">
            <a:avLst/>
          </a:prstGeom>
          <a:noFill/>
        </p:spPr>
        <p:txBody>
          <a:bodyPr wrap="square" lIns="0" rIns="0" tIns="0" bIns="0"/>
          <a:lstStyle/>
          <a:p>
            <a:pPr algn="l">
              <a:spcAft>
                <a:spcPts val="0"/>
              </a:spcAft>
            </a:pPr>
            <a:r>
              <a:rPr sz="1600" b="1">
                <a:solidFill>
                  <a:srgbClr val="092B3C"/>
                </a:solidFill>
                <a:latin typeface="Calibri"/>
              </a:rPr>
              <a:t>Authorization</a:t>
            </a:r>
          </a:p>
        </p:txBody>
      </p:sp>
      <p:sp>
        <p:nvSpPr>
          <p:cNvPr id="33" name="Rounded Rectangle 32"/>
          <p:cNvSpPr/>
          <p:nvPr/>
        </p:nvSpPr>
        <p:spPr>
          <a:xfrm>
            <a:off x="8878824" y="2258568"/>
            <a:ext cx="2542032" cy="1234440"/>
          </a:xfrm>
          <a:prstGeom prst="roundRect">
            <a:avLst>
              <a:gd name="adj" fmla="val 8888"/>
            </a:avLst>
          </a:prstGeom>
          <a:solidFill>
            <a:srgbClr val="FFFFFF">
              <a:alpha val="92000"/>
            </a:srgbClr>
          </a:solidFill>
          <a:ln w="9525">
            <a:solidFill>
              <a:srgbClr val="E3EE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006840" y="2377440"/>
            <a:ext cx="2286000" cy="182880"/>
          </a:xfrm>
          <a:prstGeom prst="rect">
            <a:avLst/>
          </a:prstGeom>
          <a:noFill/>
        </p:spPr>
        <p:txBody>
          <a:bodyPr wrap="square" lIns="0" rIns="0" tIns="0" bIns="0"/>
          <a:lstStyle/>
          <a:p>
            <a:pPr algn="l">
              <a:spcAft>
                <a:spcPts val="0"/>
              </a:spcAft>
            </a:pPr>
            <a:r>
              <a:rPr sz="1000" b="1">
                <a:solidFill>
                  <a:srgbClr val="5E7482"/>
                </a:solidFill>
                <a:latin typeface="Calibri"/>
              </a:rPr>
              <a:t>CHILDREN’S DATA</a:t>
            </a:r>
          </a:p>
        </p:txBody>
      </p:sp>
      <p:sp>
        <p:nvSpPr>
          <p:cNvPr id="35" name="TextBox 34"/>
          <p:cNvSpPr txBox="1"/>
          <p:nvPr/>
        </p:nvSpPr>
        <p:spPr>
          <a:xfrm>
            <a:off x="9006840" y="2578608"/>
            <a:ext cx="2286000" cy="256032"/>
          </a:xfrm>
          <a:prstGeom prst="rect">
            <a:avLst/>
          </a:prstGeom>
          <a:noFill/>
        </p:spPr>
        <p:txBody>
          <a:bodyPr wrap="square" lIns="0" rIns="0" tIns="0" bIns="0"/>
          <a:lstStyle/>
          <a:p>
            <a:pPr algn="l">
              <a:spcAft>
                <a:spcPts val="0"/>
              </a:spcAft>
            </a:pPr>
            <a:r>
              <a:rPr sz="1600" b="1">
                <a:solidFill>
                  <a:srgbClr val="092B3C"/>
                </a:solidFill>
                <a:latin typeface="Calibri"/>
              </a:rPr>
              <a:t>Withheld</a:t>
            </a:r>
          </a:p>
        </p:txBody>
      </p:sp>
      <p:sp>
        <p:nvSpPr>
          <p:cNvPr id="36" name="TextBox 35"/>
          <p:cNvSpPr txBox="1"/>
          <p:nvPr/>
        </p:nvSpPr>
        <p:spPr>
          <a:xfrm>
            <a:off x="9006840" y="2926080"/>
            <a:ext cx="2286000" cy="164592"/>
          </a:xfrm>
          <a:prstGeom prst="rect">
            <a:avLst/>
          </a:prstGeom>
          <a:noFill/>
        </p:spPr>
        <p:txBody>
          <a:bodyPr wrap="square" lIns="0" rIns="0" tIns="0" bIns="0"/>
          <a:lstStyle/>
          <a:p>
            <a:pPr algn="l">
              <a:spcAft>
                <a:spcPts val="0"/>
              </a:spcAft>
            </a:pPr>
            <a:r>
              <a:rPr sz="1000" b="1">
                <a:solidFill>
                  <a:srgbClr val="5E7482"/>
                </a:solidFill>
                <a:latin typeface="Calibri"/>
              </a:rPr>
              <a:t>CONSENT</a:t>
            </a:r>
          </a:p>
        </p:txBody>
      </p:sp>
      <p:sp>
        <p:nvSpPr>
          <p:cNvPr id="37" name="TextBox 36"/>
          <p:cNvSpPr txBox="1"/>
          <p:nvPr/>
        </p:nvSpPr>
        <p:spPr>
          <a:xfrm>
            <a:off x="9006840" y="3090672"/>
            <a:ext cx="2286000" cy="237744"/>
          </a:xfrm>
          <a:prstGeom prst="rect">
            <a:avLst/>
          </a:prstGeom>
          <a:noFill/>
        </p:spPr>
        <p:txBody>
          <a:bodyPr wrap="square" lIns="0" rIns="0" tIns="0" bIns="0"/>
          <a:lstStyle/>
          <a:p>
            <a:pPr algn="l">
              <a:spcAft>
                <a:spcPts val="0"/>
              </a:spcAft>
            </a:pPr>
            <a:r>
              <a:rPr sz="1400" b="1">
                <a:solidFill>
                  <a:srgbClr val="092B3C"/>
                </a:solidFill>
                <a:latin typeface="Calibri"/>
              </a:rPr>
              <a:t>Required</a:t>
            </a:r>
          </a:p>
        </p:txBody>
      </p:sp>
      <p:sp>
        <p:nvSpPr>
          <p:cNvPr id="38" name="Rounded Rectangle 37"/>
          <p:cNvSpPr/>
          <p:nvPr/>
        </p:nvSpPr>
        <p:spPr>
          <a:xfrm>
            <a:off x="8878824" y="3721607"/>
            <a:ext cx="2542032" cy="420624"/>
          </a:xfrm>
          <a:prstGeom prst="roundRect">
            <a:avLst>
              <a:gd name="adj" fmla="val 21739"/>
            </a:avLst>
          </a:prstGeom>
          <a:solidFill>
            <a:srgbClr val="09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878824" y="3813048"/>
            <a:ext cx="2542032" cy="256032"/>
          </a:xfrm>
          <a:prstGeom prst="rect">
            <a:avLst/>
          </a:prstGeom>
          <a:noFill/>
        </p:spPr>
        <p:txBody>
          <a:bodyPr wrap="square" lIns="0" rIns="0" tIns="0" bIns="0"/>
          <a:lstStyle/>
          <a:p>
            <a:pPr algn="ctr">
              <a:spcAft>
                <a:spcPts val="0"/>
              </a:spcAft>
            </a:pPr>
            <a:r>
              <a:rPr sz="1200" b="1">
                <a:solidFill>
                  <a:srgbClr val="FFFFFF"/>
                </a:solidFill>
                <a:latin typeface="Calibri"/>
              </a:rPr>
              <a:t>Give parental authorization</a:t>
            </a:r>
          </a:p>
        </p:txBody>
      </p:sp>
      <p:sp>
        <p:nvSpPr>
          <p:cNvPr id="40" name="TextBox 39"/>
          <p:cNvSpPr txBox="1"/>
          <p:nvPr/>
        </p:nvSpPr>
        <p:spPr>
          <a:xfrm>
            <a:off x="502920" y="6473952"/>
            <a:ext cx="7315200" cy="256032"/>
          </a:xfrm>
          <a:prstGeom prst="rect">
            <a:avLst/>
          </a:prstGeom>
          <a:noFill/>
        </p:spPr>
        <p:txBody>
          <a:bodyPr wrap="square" lIns="0" rIns="0" tIns="0" bIns="0"/>
          <a:lstStyle/>
          <a:p>
            <a:pPr algn="l">
              <a:spcAft>
                <a:spcPts val="0"/>
              </a:spcAft>
            </a:pPr>
            <a:r>
              <a:rPr sz="1100" b="0">
                <a:solidFill>
                  <a:srgbClr val="5E7482"/>
                </a:solidFill>
                <a:latin typeface="Calibri"/>
              </a:rPr>
              <a:t>RUPSA NEXT   ·   Parent &amp; Guardian mobile</a:t>
            </a:r>
          </a:p>
        </p:txBody>
      </p:sp>
      <p:sp>
        <p:nvSpPr>
          <p:cNvPr id="41" name="TextBox 40"/>
          <p:cNvSpPr txBox="1"/>
          <p:nvPr/>
        </p:nvSpPr>
        <p:spPr>
          <a:xfrm>
            <a:off x="10241280" y="6473952"/>
            <a:ext cx="1417320" cy="256032"/>
          </a:xfrm>
          <a:prstGeom prst="rect">
            <a:avLst/>
          </a:prstGeom>
          <a:noFill/>
        </p:spPr>
        <p:txBody>
          <a:bodyPr wrap="square" lIns="0" rIns="0" tIns="0" bIns="0"/>
          <a:lstStyle/>
          <a:p>
            <a:pPr algn="r">
              <a:spcAft>
                <a:spcPts val="0"/>
              </a:spcAft>
            </a:pPr>
            <a:r>
              <a:rPr sz="1100" b="0">
                <a:solidFill>
                  <a:srgbClr val="5E7482"/>
                </a:solidFill>
                <a:latin typeface="Calibri"/>
              </a:rPr>
              <a:t>5  /  12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595360" y="-1463040"/>
            <a:ext cx="4754880" cy="4754880"/>
          </a:xfrm>
          <a:prstGeom prst="ellipse">
            <a:avLst/>
          </a:prstGeom>
          <a:solidFill>
            <a:srgbClr val="18D6B4">
              <a:alpha val="2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45920" y="4206240"/>
            <a:ext cx="4206240" cy="4206240"/>
          </a:xfrm>
          <a:prstGeom prst="ellipse">
            <a:avLst/>
          </a:prstGeom>
          <a:solidFill>
            <a:srgbClr val="092B3C">
              <a:alpha val="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292608"/>
            <a:ext cx="7772400" cy="256032"/>
          </a:xfrm>
          <a:prstGeom prst="rect">
            <a:avLst/>
          </a:prstGeom>
          <a:noFill/>
        </p:spPr>
        <p:txBody>
          <a:bodyPr wrap="square" lIns="0" rIns="0" tIns="0" bIns="0"/>
          <a:lstStyle/>
          <a:p>
            <a:pPr algn="l">
              <a:spcAft>
                <a:spcPts val="0"/>
              </a:spcAft>
            </a:pPr>
            <a:r>
              <a:rPr sz="1200" b="1">
                <a:solidFill>
                  <a:srgbClr val="18D6B4"/>
                </a:solidFill>
                <a:latin typeface="Calibri"/>
              </a:rPr>
              <a:t>IDENTITY</a:t>
            </a:r>
          </a:p>
        </p:txBody>
      </p:sp>
      <p:sp>
        <p:nvSpPr>
          <p:cNvPr id="6" name="TextBox 5"/>
          <p:cNvSpPr txBox="1"/>
          <p:nvPr/>
        </p:nvSpPr>
        <p:spPr>
          <a:xfrm>
            <a:off x="502920" y="530352"/>
            <a:ext cx="8046720" cy="502920"/>
          </a:xfrm>
          <a:prstGeom prst="rect">
            <a:avLst/>
          </a:prstGeom>
          <a:noFill/>
        </p:spPr>
        <p:txBody>
          <a:bodyPr wrap="square" lIns="0" rIns="0" tIns="0" bIns="0"/>
          <a:lstStyle/>
          <a:p>
            <a:pPr algn="l">
              <a:spcAft>
                <a:spcPts val="0"/>
              </a:spcAft>
            </a:pPr>
            <a:r>
              <a:rPr sz="3000" b="1">
                <a:solidFill>
                  <a:srgbClr val="092B3C"/>
                </a:solidFill>
                <a:latin typeface="Calibri"/>
              </a:rPr>
              <a:t>Verification is three cards</a:t>
            </a:r>
          </a:p>
        </p:txBody>
      </p:sp>
      <p:sp>
        <p:nvSpPr>
          <p:cNvPr id="7" name="TextBox 6"/>
          <p:cNvSpPr txBox="1"/>
          <p:nvPr/>
        </p:nvSpPr>
        <p:spPr>
          <a:xfrm>
            <a:off x="502920" y="1078992"/>
            <a:ext cx="7863840" cy="640080"/>
          </a:xfrm>
          <a:prstGeom prst="rect">
            <a:avLst/>
          </a:prstGeom>
          <a:noFill/>
        </p:spPr>
        <p:txBody>
          <a:bodyPr wrap="square" lIns="0" rIns="0" tIns="0" bIns="0"/>
          <a:lstStyle/>
          <a:p>
            <a:pPr algn="l">
              <a:spcAft>
                <a:spcPts val="0"/>
              </a:spcAft>
            </a:pPr>
            <a:r>
              <a:rPr sz="1500" b="0">
                <a:solidFill>
                  <a:srgbClr val="5E7482"/>
                </a:solidFill>
                <a:latin typeface="Calibri"/>
              </a:rPr>
              <a:t>The parent sends the national ID. They do not verify themselves.</a:t>
            </a:r>
          </a:p>
        </p:txBody>
      </p:sp>
      <p:sp>
        <p:nvSpPr>
          <p:cNvPr id="8" name="Rounded Rectangle 7"/>
          <p:cNvSpPr/>
          <p:nvPr/>
        </p:nvSpPr>
        <p:spPr>
          <a:xfrm>
            <a:off x="502920" y="1965960"/>
            <a:ext cx="2560320" cy="3246120"/>
          </a:xfrm>
          <a:prstGeom prst="roundRect">
            <a:avLst>
              <a:gd name="adj" fmla="val 5714"/>
            </a:avLst>
          </a:prstGeom>
          <a:solidFill>
            <a:srgbClr val="FFFFFF">
              <a:alpha val="82000"/>
            </a:srgbClr>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85800" y="2148840"/>
            <a:ext cx="384048" cy="384048"/>
          </a:xfrm>
          <a:prstGeom prst="roundRect">
            <a:avLst>
              <a:gd name="adj" fmla="val 47619"/>
            </a:avLst>
          </a:prstGeom>
          <a:solidFill>
            <a:srgbClr val="09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2212848"/>
            <a:ext cx="384048" cy="274320"/>
          </a:xfrm>
          <a:prstGeom prst="rect">
            <a:avLst/>
          </a:prstGeom>
          <a:noFill/>
        </p:spPr>
        <p:txBody>
          <a:bodyPr wrap="square" lIns="0" rIns="0" tIns="0" bIns="0"/>
          <a:lstStyle/>
          <a:p>
            <a:pPr algn="ctr">
              <a:spcAft>
                <a:spcPts val="0"/>
              </a:spcAft>
            </a:pPr>
            <a:r>
              <a:rPr sz="1400" b="1">
                <a:solidFill>
                  <a:srgbClr val="FFFFFF"/>
                </a:solidFill>
                <a:latin typeface="Calibri"/>
              </a:rPr>
              <a:t>1</a:t>
            </a:r>
          </a:p>
        </p:txBody>
      </p:sp>
      <p:sp>
        <p:nvSpPr>
          <p:cNvPr id="11" name="TextBox 10"/>
          <p:cNvSpPr txBox="1"/>
          <p:nvPr/>
        </p:nvSpPr>
        <p:spPr>
          <a:xfrm>
            <a:off x="1179576" y="2194560"/>
            <a:ext cx="1691640" cy="329184"/>
          </a:xfrm>
          <a:prstGeom prst="rect">
            <a:avLst/>
          </a:prstGeom>
          <a:noFill/>
        </p:spPr>
        <p:txBody>
          <a:bodyPr wrap="square" lIns="0" rIns="0" tIns="0" bIns="0"/>
          <a:lstStyle/>
          <a:p>
            <a:pPr algn="l">
              <a:spcAft>
                <a:spcPts val="0"/>
              </a:spcAft>
            </a:pPr>
            <a:r>
              <a:rPr sz="1800" b="1">
                <a:solidFill>
                  <a:srgbClr val="092B3C"/>
                </a:solidFill>
                <a:latin typeface="Calibri"/>
              </a:rPr>
              <a:t>Record</a:t>
            </a:r>
          </a:p>
        </p:txBody>
      </p:sp>
      <p:sp>
        <p:nvSpPr>
          <p:cNvPr id="12" name="TextBox 11"/>
          <p:cNvSpPr txBox="1"/>
          <p:nvPr/>
        </p:nvSpPr>
        <p:spPr>
          <a:xfrm>
            <a:off x="685800" y="2743200"/>
            <a:ext cx="2194560" cy="1737360"/>
          </a:xfrm>
          <a:prstGeom prst="rect">
            <a:avLst/>
          </a:prstGeom>
          <a:noFill/>
        </p:spPr>
        <p:txBody>
          <a:bodyPr wrap="square" lIns="0" rIns="0" tIns="0" bIns="0"/>
          <a:lstStyle/>
          <a:p>
            <a:pPr algn="l">
              <a:spcAft>
                <a:spcPts val="0"/>
              </a:spcAft>
            </a:pPr>
            <a:r>
              <a:rPr sz="1400" b="0">
                <a:solidFill>
                  <a:srgbClr val="5E7482"/>
                </a:solidFill>
                <a:latin typeface="Calibri"/>
              </a:rPr>
              <a:t>The card shows the status already on the account, the masked ID, and the guardian reference.</a:t>
            </a:r>
          </a:p>
        </p:txBody>
      </p:sp>
      <p:sp>
        <p:nvSpPr>
          <p:cNvPr id="13" name="Rounded Rectangle 12"/>
          <p:cNvSpPr/>
          <p:nvPr/>
        </p:nvSpPr>
        <p:spPr>
          <a:xfrm>
            <a:off x="3200400" y="1965960"/>
            <a:ext cx="2560320" cy="3246120"/>
          </a:xfrm>
          <a:prstGeom prst="roundRect">
            <a:avLst>
              <a:gd name="adj" fmla="val 5714"/>
            </a:avLst>
          </a:prstGeom>
          <a:solidFill>
            <a:srgbClr val="FFFFFF">
              <a:alpha val="82000"/>
            </a:srgbClr>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3383280" y="2148840"/>
            <a:ext cx="384048" cy="384048"/>
          </a:xfrm>
          <a:prstGeom prst="roundRect">
            <a:avLst>
              <a:gd name="adj" fmla="val 47619"/>
            </a:avLst>
          </a:prstGeom>
          <a:solidFill>
            <a:srgbClr val="09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383280" y="2212848"/>
            <a:ext cx="384048" cy="274320"/>
          </a:xfrm>
          <a:prstGeom prst="rect">
            <a:avLst/>
          </a:prstGeom>
          <a:noFill/>
        </p:spPr>
        <p:txBody>
          <a:bodyPr wrap="square" lIns="0" rIns="0" tIns="0" bIns="0"/>
          <a:lstStyle/>
          <a:p>
            <a:pPr algn="ctr">
              <a:spcAft>
                <a:spcPts val="0"/>
              </a:spcAft>
            </a:pPr>
            <a:r>
              <a:rPr sz="1400" b="1">
                <a:solidFill>
                  <a:srgbClr val="FFFFFF"/>
                </a:solidFill>
                <a:latin typeface="Calibri"/>
              </a:rPr>
              <a:t>2</a:t>
            </a:r>
          </a:p>
        </p:txBody>
      </p:sp>
      <p:sp>
        <p:nvSpPr>
          <p:cNvPr id="16" name="TextBox 15"/>
          <p:cNvSpPr txBox="1"/>
          <p:nvPr/>
        </p:nvSpPr>
        <p:spPr>
          <a:xfrm>
            <a:off x="3877056" y="2194560"/>
            <a:ext cx="1691640" cy="329184"/>
          </a:xfrm>
          <a:prstGeom prst="rect">
            <a:avLst/>
          </a:prstGeom>
          <a:noFill/>
        </p:spPr>
        <p:txBody>
          <a:bodyPr wrap="square" lIns="0" rIns="0" tIns="0" bIns="0"/>
          <a:lstStyle/>
          <a:p>
            <a:pPr algn="l">
              <a:spcAft>
                <a:spcPts val="0"/>
              </a:spcAft>
            </a:pPr>
            <a:r>
              <a:rPr sz="1800" b="1">
                <a:solidFill>
                  <a:srgbClr val="092B3C"/>
                </a:solidFill>
                <a:latin typeface="Calibri"/>
              </a:rPr>
              <a:t>Identity</a:t>
            </a:r>
          </a:p>
        </p:txBody>
      </p:sp>
      <p:sp>
        <p:nvSpPr>
          <p:cNvPr id="17" name="TextBox 16"/>
          <p:cNvSpPr txBox="1"/>
          <p:nvPr/>
        </p:nvSpPr>
        <p:spPr>
          <a:xfrm>
            <a:off x="3383280" y="2743200"/>
            <a:ext cx="2194560" cy="1737360"/>
          </a:xfrm>
          <a:prstGeom prst="rect">
            <a:avLst/>
          </a:prstGeom>
          <a:noFill/>
        </p:spPr>
        <p:txBody>
          <a:bodyPr wrap="square" lIns="0" rIns="0" tIns="0" bIns="0"/>
          <a:lstStyle/>
          <a:p>
            <a:pPr algn="l">
              <a:spcAft>
                <a:spcPts val="0"/>
              </a:spcAft>
            </a:pPr>
            <a:r>
              <a:rPr sz="1400" b="0">
                <a:solidFill>
                  <a:srgbClr val="5E7482"/>
                </a:solidFill>
                <a:latin typeface="Calibri"/>
              </a:rPr>
              <a:t>The parent enters the 16-digit national ID. Continue stays off until the number is complete.</a:t>
            </a:r>
          </a:p>
        </p:txBody>
      </p:sp>
      <p:sp>
        <p:nvSpPr>
          <p:cNvPr id="18" name="Rounded Rectangle 17"/>
          <p:cNvSpPr/>
          <p:nvPr/>
        </p:nvSpPr>
        <p:spPr>
          <a:xfrm>
            <a:off x="5897880" y="1965960"/>
            <a:ext cx="2560320" cy="3246120"/>
          </a:xfrm>
          <a:prstGeom prst="roundRect">
            <a:avLst>
              <a:gd name="adj" fmla="val 5714"/>
            </a:avLst>
          </a:prstGeom>
          <a:solidFill>
            <a:srgbClr val="FFFFFF">
              <a:alpha val="82000"/>
            </a:srgbClr>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080760" y="2148840"/>
            <a:ext cx="384048" cy="384048"/>
          </a:xfrm>
          <a:prstGeom prst="roundRect">
            <a:avLst>
              <a:gd name="adj" fmla="val 47619"/>
            </a:avLst>
          </a:prstGeom>
          <a:solidFill>
            <a:srgbClr val="09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080760" y="2212848"/>
            <a:ext cx="384048" cy="274320"/>
          </a:xfrm>
          <a:prstGeom prst="rect">
            <a:avLst/>
          </a:prstGeom>
          <a:noFill/>
        </p:spPr>
        <p:txBody>
          <a:bodyPr wrap="square" lIns="0" rIns="0" tIns="0" bIns="0"/>
          <a:lstStyle/>
          <a:p>
            <a:pPr algn="ctr">
              <a:spcAft>
                <a:spcPts val="0"/>
              </a:spcAft>
            </a:pPr>
            <a:r>
              <a:rPr sz="1400" b="1">
                <a:solidFill>
                  <a:srgbClr val="FFFFFF"/>
                </a:solidFill>
                <a:latin typeface="Calibri"/>
              </a:rPr>
              <a:t>3</a:t>
            </a:r>
          </a:p>
        </p:txBody>
      </p:sp>
      <p:sp>
        <p:nvSpPr>
          <p:cNvPr id="21" name="TextBox 20"/>
          <p:cNvSpPr txBox="1"/>
          <p:nvPr/>
        </p:nvSpPr>
        <p:spPr>
          <a:xfrm>
            <a:off x="6574536" y="2194560"/>
            <a:ext cx="1691640" cy="329184"/>
          </a:xfrm>
          <a:prstGeom prst="rect">
            <a:avLst/>
          </a:prstGeom>
          <a:noFill/>
        </p:spPr>
        <p:txBody>
          <a:bodyPr wrap="square" lIns="0" rIns="0" tIns="0" bIns="0"/>
          <a:lstStyle/>
          <a:p>
            <a:pPr algn="l">
              <a:spcAft>
                <a:spcPts val="0"/>
              </a:spcAft>
            </a:pPr>
            <a:r>
              <a:rPr sz="1800" b="1">
                <a:solidFill>
                  <a:srgbClr val="092B3C"/>
                </a:solidFill>
                <a:latin typeface="Calibri"/>
              </a:rPr>
              <a:t>Review</a:t>
            </a:r>
          </a:p>
        </p:txBody>
      </p:sp>
      <p:sp>
        <p:nvSpPr>
          <p:cNvPr id="22" name="TextBox 21"/>
          <p:cNvSpPr txBox="1"/>
          <p:nvPr/>
        </p:nvSpPr>
        <p:spPr>
          <a:xfrm>
            <a:off x="6080760" y="2743200"/>
            <a:ext cx="2194560" cy="1737360"/>
          </a:xfrm>
          <a:prstGeom prst="rect">
            <a:avLst/>
          </a:prstGeom>
          <a:noFill/>
        </p:spPr>
        <p:txBody>
          <a:bodyPr wrap="square" lIns="0" rIns="0" tIns="0" bIns="0"/>
          <a:lstStyle/>
          <a:p>
            <a:pPr algn="l">
              <a:spcAft>
                <a:spcPts val="0"/>
              </a:spcAft>
            </a:pPr>
            <a:r>
              <a:rPr sz="1400" b="0">
                <a:solidFill>
                  <a:srgbClr val="5E7482"/>
                </a:solidFill>
                <a:latin typeface="Calibri"/>
              </a:rPr>
              <a:t>They check the number and submit it. The status remains pending until someone reviews it.</a:t>
            </a:r>
          </a:p>
        </p:txBody>
      </p:sp>
      <p:sp>
        <p:nvSpPr>
          <p:cNvPr id="23" name="TextBox 22"/>
          <p:cNvSpPr txBox="1"/>
          <p:nvPr/>
        </p:nvSpPr>
        <p:spPr>
          <a:xfrm>
            <a:off x="502920" y="5486400"/>
            <a:ext cx="11155680" cy="640080"/>
          </a:xfrm>
          <a:prstGeom prst="rect">
            <a:avLst/>
          </a:prstGeom>
          <a:noFill/>
        </p:spPr>
        <p:txBody>
          <a:bodyPr wrap="square" lIns="0" rIns="0" tIns="0" bIns="0"/>
          <a:lstStyle/>
          <a:p>
            <a:pPr algn="l">
              <a:spcAft>
                <a:spcPts val="0"/>
              </a:spcAft>
            </a:pPr>
            <a:r>
              <a:rPr sz="1500" b="0">
                <a:solidFill>
                  <a:srgbClr val="16384A"/>
                </a:solidFill>
                <a:latin typeface="Calibri"/>
              </a:rPr>
              <a:t>The number is stored as a mask, such as ••••••••••••7654. Sending the same number again does not undo a record that is already verified.</a:t>
            </a:r>
          </a:p>
        </p:txBody>
      </p:sp>
      <p:sp>
        <p:nvSpPr>
          <p:cNvPr id="24" name="TextBox 23"/>
          <p:cNvSpPr txBox="1"/>
          <p:nvPr/>
        </p:nvSpPr>
        <p:spPr>
          <a:xfrm>
            <a:off x="502920" y="6473952"/>
            <a:ext cx="7315200" cy="256032"/>
          </a:xfrm>
          <a:prstGeom prst="rect">
            <a:avLst/>
          </a:prstGeom>
          <a:noFill/>
        </p:spPr>
        <p:txBody>
          <a:bodyPr wrap="square" lIns="0" rIns="0" tIns="0" bIns="0"/>
          <a:lstStyle/>
          <a:p>
            <a:pPr algn="l">
              <a:spcAft>
                <a:spcPts val="0"/>
              </a:spcAft>
            </a:pPr>
            <a:r>
              <a:rPr sz="1100" b="0">
                <a:solidFill>
                  <a:srgbClr val="5E7482"/>
                </a:solidFill>
                <a:latin typeface="Calibri"/>
              </a:rPr>
              <a:t>RUPSA NEXT   ·   Parent &amp; Guardian mobile</a:t>
            </a:r>
          </a:p>
        </p:txBody>
      </p:sp>
      <p:sp>
        <p:nvSpPr>
          <p:cNvPr id="25" name="TextBox 24"/>
          <p:cNvSpPr txBox="1"/>
          <p:nvPr/>
        </p:nvSpPr>
        <p:spPr>
          <a:xfrm>
            <a:off x="10241280" y="6473952"/>
            <a:ext cx="1417320" cy="256032"/>
          </a:xfrm>
          <a:prstGeom prst="rect">
            <a:avLst/>
          </a:prstGeom>
          <a:noFill/>
        </p:spPr>
        <p:txBody>
          <a:bodyPr wrap="square" lIns="0" rIns="0" tIns="0" bIns="0"/>
          <a:lstStyle/>
          <a:p>
            <a:pPr algn="r">
              <a:spcAft>
                <a:spcPts val="0"/>
              </a:spcAft>
            </a:pPr>
            <a:r>
              <a:rPr sz="1100" b="0">
                <a:solidFill>
                  <a:srgbClr val="5E7482"/>
                </a:solidFill>
                <a:latin typeface="Calibri"/>
              </a:rPr>
              <a:t>6  /  12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595360" y="-1463040"/>
            <a:ext cx="4754880" cy="4754880"/>
          </a:xfrm>
          <a:prstGeom prst="ellipse">
            <a:avLst/>
          </a:prstGeom>
          <a:solidFill>
            <a:srgbClr val="18D6B4">
              <a:alpha val="2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45920" y="4206240"/>
            <a:ext cx="4206240" cy="4206240"/>
          </a:xfrm>
          <a:prstGeom prst="ellipse">
            <a:avLst/>
          </a:prstGeom>
          <a:solidFill>
            <a:srgbClr val="092B3C">
              <a:alpha val="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292608"/>
            <a:ext cx="7772400" cy="256032"/>
          </a:xfrm>
          <a:prstGeom prst="rect">
            <a:avLst/>
          </a:prstGeom>
          <a:noFill/>
        </p:spPr>
        <p:txBody>
          <a:bodyPr wrap="square" lIns="0" rIns="0" tIns="0" bIns="0"/>
          <a:lstStyle/>
          <a:p>
            <a:pPr algn="l">
              <a:spcAft>
                <a:spcPts val="0"/>
              </a:spcAft>
            </a:pPr>
            <a:r>
              <a:rPr sz="1200" b="1">
                <a:solidFill>
                  <a:srgbClr val="18D6B4"/>
                </a:solidFill>
                <a:latin typeface="Calibri"/>
              </a:rPr>
              <a:t>LINK A STUDENT</a:t>
            </a:r>
          </a:p>
        </p:txBody>
      </p:sp>
      <p:sp>
        <p:nvSpPr>
          <p:cNvPr id="6" name="TextBox 5"/>
          <p:cNvSpPr txBox="1"/>
          <p:nvPr/>
        </p:nvSpPr>
        <p:spPr>
          <a:xfrm>
            <a:off x="502920" y="530352"/>
            <a:ext cx="8046720" cy="502920"/>
          </a:xfrm>
          <a:prstGeom prst="rect">
            <a:avLst/>
          </a:prstGeom>
          <a:noFill/>
        </p:spPr>
        <p:txBody>
          <a:bodyPr wrap="square" lIns="0" rIns="0" tIns="0" bIns="0"/>
          <a:lstStyle/>
          <a:p>
            <a:pPr algn="l">
              <a:spcAft>
                <a:spcPts val="0"/>
              </a:spcAft>
            </a:pPr>
            <a:r>
              <a:rPr sz="3000" b="1">
                <a:solidFill>
                  <a:srgbClr val="092B3C"/>
                </a:solidFill>
                <a:latin typeface="Calibri"/>
              </a:rPr>
              <a:t>Choose the school by name or code</a:t>
            </a:r>
          </a:p>
        </p:txBody>
      </p:sp>
      <p:sp>
        <p:nvSpPr>
          <p:cNvPr id="7" name="TextBox 6"/>
          <p:cNvSpPr txBox="1"/>
          <p:nvPr/>
        </p:nvSpPr>
        <p:spPr>
          <a:xfrm>
            <a:off x="502920" y="1078992"/>
            <a:ext cx="7863840" cy="640080"/>
          </a:xfrm>
          <a:prstGeom prst="rect">
            <a:avLst/>
          </a:prstGeom>
          <a:noFill/>
        </p:spPr>
        <p:txBody>
          <a:bodyPr wrap="square" lIns="0" rIns="0" tIns="0" bIns="0"/>
          <a:lstStyle/>
          <a:p>
            <a:pPr algn="l">
              <a:spcAft>
                <a:spcPts val="0"/>
              </a:spcAft>
            </a:pPr>
            <a:r>
              <a:rPr sz="1500" b="0">
                <a:solidFill>
                  <a:srgbClr val="5E7482"/>
                </a:solidFill>
                <a:latin typeface="Calibri"/>
              </a:rPr>
              <a:t>The first step is a search, then a tick. Continue waits until a school is chosen.</a:t>
            </a:r>
          </a:p>
        </p:txBody>
      </p:sp>
      <p:sp>
        <p:nvSpPr>
          <p:cNvPr id="8" name="Rounded Rectangle 7"/>
          <p:cNvSpPr/>
          <p:nvPr/>
        </p:nvSpPr>
        <p:spPr>
          <a:xfrm>
            <a:off x="502920" y="1965960"/>
            <a:ext cx="3794760" cy="1554480"/>
          </a:xfrm>
          <a:prstGeom prst="roundRect">
            <a:avLst>
              <a:gd name="adj" fmla="val 9411"/>
            </a:avLst>
          </a:prstGeom>
          <a:solidFill>
            <a:srgbClr val="FFFFFF">
              <a:alpha val="78000"/>
            </a:srgbClr>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04088" y="2112264"/>
            <a:ext cx="3429000" cy="329184"/>
          </a:xfrm>
          <a:prstGeom prst="rect">
            <a:avLst/>
          </a:prstGeom>
          <a:noFill/>
        </p:spPr>
        <p:txBody>
          <a:bodyPr wrap="square" lIns="0" rIns="0" tIns="0" bIns="0"/>
          <a:lstStyle/>
          <a:p>
            <a:pPr algn="l">
              <a:spcAft>
                <a:spcPts val="0"/>
              </a:spcAft>
            </a:pPr>
            <a:r>
              <a:rPr sz="1600" b="1">
                <a:solidFill>
                  <a:srgbClr val="092B3C"/>
                </a:solidFill>
                <a:latin typeface="Calibri"/>
              </a:rPr>
              <a:t>Search</a:t>
            </a:r>
          </a:p>
        </p:txBody>
      </p:sp>
      <p:sp>
        <p:nvSpPr>
          <p:cNvPr id="10" name="TextBox 9"/>
          <p:cNvSpPr txBox="1"/>
          <p:nvPr/>
        </p:nvSpPr>
        <p:spPr>
          <a:xfrm>
            <a:off x="704088" y="2441448"/>
            <a:ext cx="3429000" cy="950976"/>
          </a:xfrm>
          <a:prstGeom prst="rect">
            <a:avLst/>
          </a:prstGeom>
          <a:noFill/>
        </p:spPr>
        <p:txBody>
          <a:bodyPr wrap="square" lIns="0" rIns="0" tIns="0" bIns="0"/>
          <a:lstStyle/>
          <a:p>
            <a:pPr algn="l">
              <a:spcAft>
                <a:spcPts val="200"/>
              </a:spcAft>
            </a:pPr>
            <a:r>
              <a:rPr sz="1300" b="0">
                <a:solidFill>
                  <a:srgbClr val="5E7482"/>
                </a:solidFill>
                <a:latin typeface="Calibri"/>
              </a:rPr>
              <a:t>The parent types a school name, such as Hills, or a school code, such as SCH-20226. The list narrows to the matches.</a:t>
            </a:r>
          </a:p>
        </p:txBody>
      </p:sp>
      <p:sp>
        <p:nvSpPr>
          <p:cNvPr id="11" name="Rounded Rectangle 10"/>
          <p:cNvSpPr/>
          <p:nvPr/>
        </p:nvSpPr>
        <p:spPr>
          <a:xfrm>
            <a:off x="502920" y="3703320"/>
            <a:ext cx="3794760" cy="1554480"/>
          </a:xfrm>
          <a:prstGeom prst="roundRect">
            <a:avLst>
              <a:gd name="adj" fmla="val 9411"/>
            </a:avLst>
          </a:prstGeom>
          <a:solidFill>
            <a:srgbClr val="FFFFFF">
              <a:alpha val="78000"/>
            </a:srgbClr>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04088" y="3849624"/>
            <a:ext cx="3429000" cy="329184"/>
          </a:xfrm>
          <a:prstGeom prst="rect">
            <a:avLst/>
          </a:prstGeom>
          <a:noFill/>
        </p:spPr>
        <p:txBody>
          <a:bodyPr wrap="square" lIns="0" rIns="0" tIns="0" bIns="0"/>
          <a:lstStyle/>
          <a:p>
            <a:pPr algn="l">
              <a:spcAft>
                <a:spcPts val="0"/>
              </a:spcAft>
            </a:pPr>
            <a:r>
              <a:rPr sz="1600" b="1">
                <a:solidFill>
                  <a:srgbClr val="092B3C"/>
                </a:solidFill>
                <a:latin typeface="Calibri"/>
              </a:rPr>
              <a:t>Select</a:t>
            </a:r>
          </a:p>
        </p:txBody>
      </p:sp>
      <p:sp>
        <p:nvSpPr>
          <p:cNvPr id="13" name="TextBox 12"/>
          <p:cNvSpPr txBox="1"/>
          <p:nvPr/>
        </p:nvSpPr>
        <p:spPr>
          <a:xfrm>
            <a:off x="704088" y="4178808"/>
            <a:ext cx="3429000" cy="950976"/>
          </a:xfrm>
          <a:prstGeom prst="rect">
            <a:avLst/>
          </a:prstGeom>
          <a:noFill/>
        </p:spPr>
        <p:txBody>
          <a:bodyPr wrap="square" lIns="0" rIns="0" tIns="0" bIns="0"/>
          <a:lstStyle/>
          <a:p>
            <a:pPr algn="l">
              <a:spcAft>
                <a:spcPts val="200"/>
              </a:spcAft>
            </a:pPr>
            <a:r>
              <a:rPr sz="1300" b="0">
                <a:solidFill>
                  <a:srgbClr val="5E7482"/>
                </a:solidFill>
                <a:latin typeface="Calibri"/>
              </a:rPr>
              <a:t>The chosen row turns aqua and shows a check. The code and district stay visible, so the parent can see which school they picked.</a:t>
            </a:r>
          </a:p>
        </p:txBody>
      </p:sp>
      <p:sp>
        <p:nvSpPr>
          <p:cNvPr id="14" name="Rounded Rectangle 13"/>
          <p:cNvSpPr/>
          <p:nvPr/>
        </p:nvSpPr>
        <p:spPr>
          <a:xfrm>
            <a:off x="4709160" y="1874519"/>
            <a:ext cx="3063240" cy="4160520"/>
          </a:xfrm>
          <a:prstGeom prst="roundRect">
            <a:avLst>
              <a:gd name="adj" fmla="val 8358"/>
            </a:avLst>
          </a:prstGeom>
          <a:solidFill>
            <a:srgbClr val="FFFFFF">
              <a:alpha val="82000"/>
            </a:srgbClr>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984748" y="1984247"/>
            <a:ext cx="512064" cy="54864"/>
          </a:xfrm>
          <a:prstGeom prst="roundRect">
            <a:avLst>
              <a:gd name="adj" fmla="val 50000"/>
            </a:avLst>
          </a:prstGeom>
          <a:solidFill>
            <a:srgbClr val="E3EE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4855464" y="2167127"/>
            <a:ext cx="2770632" cy="566928"/>
          </a:xfrm>
          <a:prstGeom prst="roundRect">
            <a:avLst>
              <a:gd name="adj" fmla="val 22580"/>
            </a:avLst>
          </a:prstGeom>
          <a:solidFill>
            <a:srgbClr val="FFFFFF">
              <a:alpha val="70000"/>
            </a:srgbClr>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5241036" y="2240279"/>
            <a:ext cx="201168" cy="201168"/>
          </a:xfrm>
          <a:prstGeom prst="roundRect">
            <a:avLst>
              <a:gd name="adj" fmla="val 50000"/>
            </a:avLst>
          </a:prstGeom>
          <a:solidFill>
            <a:srgbClr val="09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928616" y="2231135"/>
            <a:ext cx="826008" cy="219456"/>
          </a:xfrm>
          <a:prstGeom prst="rect">
            <a:avLst/>
          </a:prstGeom>
          <a:noFill/>
        </p:spPr>
        <p:txBody>
          <a:bodyPr wrap="square" lIns="0" rIns="0" tIns="0" bIns="0"/>
          <a:lstStyle/>
          <a:p>
            <a:pPr algn="ctr">
              <a:spcAft>
                <a:spcPts val="0"/>
              </a:spcAft>
            </a:pPr>
            <a:r>
              <a:rPr sz="1000" b="1">
                <a:solidFill>
                  <a:srgbClr val="FFFFFF"/>
                </a:solidFill>
                <a:latin typeface="Calibri"/>
              </a:rPr>
              <a:t>1</a:t>
            </a:r>
          </a:p>
        </p:txBody>
      </p:sp>
      <p:sp>
        <p:nvSpPr>
          <p:cNvPr id="19" name="TextBox 18"/>
          <p:cNvSpPr txBox="1"/>
          <p:nvPr/>
        </p:nvSpPr>
        <p:spPr>
          <a:xfrm>
            <a:off x="4928616" y="2459735"/>
            <a:ext cx="826008" cy="219456"/>
          </a:xfrm>
          <a:prstGeom prst="rect">
            <a:avLst/>
          </a:prstGeom>
          <a:noFill/>
        </p:spPr>
        <p:txBody>
          <a:bodyPr wrap="square" lIns="0" rIns="0" tIns="0" bIns="0"/>
          <a:lstStyle/>
          <a:p>
            <a:pPr algn="ctr">
              <a:spcAft>
                <a:spcPts val="0"/>
              </a:spcAft>
            </a:pPr>
            <a:r>
              <a:rPr sz="1000" b="1">
                <a:solidFill>
                  <a:srgbClr val="092B3C"/>
                </a:solidFill>
                <a:latin typeface="Calibri"/>
              </a:rPr>
              <a:t>School</a:t>
            </a:r>
          </a:p>
        </p:txBody>
      </p:sp>
      <p:sp>
        <p:nvSpPr>
          <p:cNvPr id="20" name="Rounded Rectangle 19"/>
          <p:cNvSpPr/>
          <p:nvPr/>
        </p:nvSpPr>
        <p:spPr>
          <a:xfrm>
            <a:off x="6140196" y="2240279"/>
            <a:ext cx="201168" cy="201168"/>
          </a:xfrm>
          <a:prstGeom prst="roundRect">
            <a:avLst>
              <a:gd name="adj" fmla="val 50000"/>
            </a:avLst>
          </a:prstGeom>
          <a:solidFill>
            <a:srgbClr val="FFFFFF"/>
          </a:solidFill>
          <a:ln w="12700">
            <a:solidFill>
              <a:srgbClr val="E3EE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827776" y="2231135"/>
            <a:ext cx="826008" cy="219456"/>
          </a:xfrm>
          <a:prstGeom prst="rect">
            <a:avLst/>
          </a:prstGeom>
          <a:noFill/>
        </p:spPr>
        <p:txBody>
          <a:bodyPr wrap="square" lIns="0" rIns="0" tIns="0" bIns="0"/>
          <a:lstStyle/>
          <a:p>
            <a:pPr algn="ctr">
              <a:spcAft>
                <a:spcPts val="0"/>
              </a:spcAft>
            </a:pPr>
            <a:r>
              <a:rPr sz="1000" b="1">
                <a:solidFill>
                  <a:srgbClr val="5E7482"/>
                </a:solidFill>
                <a:latin typeface="Calibri"/>
              </a:rPr>
              <a:t>2</a:t>
            </a:r>
          </a:p>
        </p:txBody>
      </p:sp>
      <p:sp>
        <p:nvSpPr>
          <p:cNvPr id="22" name="TextBox 21"/>
          <p:cNvSpPr txBox="1"/>
          <p:nvPr/>
        </p:nvSpPr>
        <p:spPr>
          <a:xfrm>
            <a:off x="5827776" y="2459735"/>
            <a:ext cx="826008" cy="219456"/>
          </a:xfrm>
          <a:prstGeom prst="rect">
            <a:avLst/>
          </a:prstGeom>
          <a:noFill/>
        </p:spPr>
        <p:txBody>
          <a:bodyPr wrap="square" lIns="0" rIns="0" tIns="0" bIns="0"/>
          <a:lstStyle/>
          <a:p>
            <a:pPr algn="ctr">
              <a:spcAft>
                <a:spcPts val="0"/>
              </a:spcAft>
            </a:pPr>
            <a:r>
              <a:rPr sz="1000" b="0">
                <a:solidFill>
                  <a:srgbClr val="5E7482"/>
                </a:solidFill>
                <a:latin typeface="Calibri"/>
              </a:rPr>
              <a:t>Student</a:t>
            </a:r>
          </a:p>
        </p:txBody>
      </p:sp>
      <p:sp>
        <p:nvSpPr>
          <p:cNvPr id="23" name="Rectangle 22"/>
          <p:cNvSpPr/>
          <p:nvPr/>
        </p:nvSpPr>
        <p:spPr>
          <a:xfrm>
            <a:off x="5754624" y="2322575"/>
            <a:ext cx="73152" cy="32004"/>
          </a:xfrm>
          <a:prstGeom prst="rect">
            <a:avLst/>
          </a:prstGeom>
          <a:solidFill>
            <a:srgbClr val="E3EE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7039356" y="2240279"/>
            <a:ext cx="201168" cy="201168"/>
          </a:xfrm>
          <a:prstGeom prst="roundRect">
            <a:avLst>
              <a:gd name="adj" fmla="val 50000"/>
            </a:avLst>
          </a:prstGeom>
          <a:solidFill>
            <a:srgbClr val="FFFFFF"/>
          </a:solidFill>
          <a:ln w="12700">
            <a:solidFill>
              <a:srgbClr val="E3EE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726936" y="2231135"/>
            <a:ext cx="826008" cy="219456"/>
          </a:xfrm>
          <a:prstGeom prst="rect">
            <a:avLst/>
          </a:prstGeom>
          <a:noFill/>
        </p:spPr>
        <p:txBody>
          <a:bodyPr wrap="square" lIns="0" rIns="0" tIns="0" bIns="0"/>
          <a:lstStyle/>
          <a:p>
            <a:pPr algn="ctr">
              <a:spcAft>
                <a:spcPts val="0"/>
              </a:spcAft>
            </a:pPr>
            <a:r>
              <a:rPr sz="1000" b="1">
                <a:solidFill>
                  <a:srgbClr val="5E7482"/>
                </a:solidFill>
                <a:latin typeface="Calibri"/>
              </a:rPr>
              <a:t>3</a:t>
            </a:r>
          </a:p>
        </p:txBody>
      </p:sp>
      <p:sp>
        <p:nvSpPr>
          <p:cNvPr id="26" name="TextBox 25"/>
          <p:cNvSpPr txBox="1"/>
          <p:nvPr/>
        </p:nvSpPr>
        <p:spPr>
          <a:xfrm>
            <a:off x="6726936" y="2459735"/>
            <a:ext cx="826008" cy="219456"/>
          </a:xfrm>
          <a:prstGeom prst="rect">
            <a:avLst/>
          </a:prstGeom>
          <a:noFill/>
        </p:spPr>
        <p:txBody>
          <a:bodyPr wrap="square" lIns="0" rIns="0" tIns="0" bIns="0"/>
          <a:lstStyle/>
          <a:p>
            <a:pPr algn="ctr">
              <a:spcAft>
                <a:spcPts val="0"/>
              </a:spcAft>
            </a:pPr>
            <a:r>
              <a:rPr sz="1000" b="0">
                <a:solidFill>
                  <a:srgbClr val="5E7482"/>
                </a:solidFill>
                <a:latin typeface="Calibri"/>
              </a:rPr>
              <a:t>Confirm</a:t>
            </a:r>
          </a:p>
        </p:txBody>
      </p:sp>
      <p:sp>
        <p:nvSpPr>
          <p:cNvPr id="27" name="Rectangle 26"/>
          <p:cNvSpPr/>
          <p:nvPr/>
        </p:nvSpPr>
        <p:spPr>
          <a:xfrm>
            <a:off x="6653784" y="2322575"/>
            <a:ext cx="73152" cy="32004"/>
          </a:xfrm>
          <a:prstGeom prst="rect">
            <a:avLst/>
          </a:prstGeom>
          <a:solidFill>
            <a:srgbClr val="E3EE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855464" y="2880359"/>
            <a:ext cx="2770632" cy="182880"/>
          </a:xfrm>
          <a:prstGeom prst="rect">
            <a:avLst/>
          </a:prstGeom>
          <a:noFill/>
        </p:spPr>
        <p:txBody>
          <a:bodyPr wrap="square" lIns="0" rIns="0" tIns="0" bIns="0"/>
          <a:lstStyle/>
          <a:p>
            <a:pPr algn="l">
              <a:spcAft>
                <a:spcPts val="0"/>
              </a:spcAft>
            </a:pPr>
            <a:r>
              <a:rPr sz="1000" b="1">
                <a:solidFill>
                  <a:srgbClr val="5E7482"/>
                </a:solidFill>
                <a:latin typeface="Calibri"/>
              </a:rPr>
              <a:t>FIND A SCHOOL</a:t>
            </a:r>
          </a:p>
        </p:txBody>
      </p:sp>
      <p:sp>
        <p:nvSpPr>
          <p:cNvPr id="29" name="Rounded Rectangle 28"/>
          <p:cNvSpPr/>
          <p:nvPr/>
        </p:nvSpPr>
        <p:spPr>
          <a:xfrm>
            <a:off x="4855464" y="3099815"/>
            <a:ext cx="2770632" cy="365760"/>
          </a:xfrm>
          <a:prstGeom prst="roundRect">
            <a:avLst>
              <a:gd name="adj" fmla="val 20000"/>
            </a:avLst>
          </a:prstGeom>
          <a:solidFill>
            <a:srgbClr val="FFFFFF">
              <a:alpha val="95000"/>
            </a:srgbClr>
          </a:solidFill>
          <a:ln w="9525">
            <a:solidFill>
              <a:srgbClr val="E3EE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965192" y="3172967"/>
            <a:ext cx="2587752" cy="237744"/>
          </a:xfrm>
          <a:prstGeom prst="rect">
            <a:avLst/>
          </a:prstGeom>
          <a:noFill/>
        </p:spPr>
        <p:txBody>
          <a:bodyPr wrap="square" lIns="0" rIns="0" tIns="0" bIns="0"/>
          <a:lstStyle/>
          <a:p>
            <a:pPr algn="l">
              <a:spcAft>
                <a:spcPts val="0"/>
              </a:spcAft>
            </a:pPr>
            <a:r>
              <a:rPr sz="1300" b="0">
                <a:solidFill>
                  <a:srgbClr val="092B3C"/>
                </a:solidFill>
                <a:latin typeface="Calibri"/>
              </a:rPr>
              <a:t>hills</a:t>
            </a:r>
          </a:p>
        </p:txBody>
      </p:sp>
      <p:sp>
        <p:nvSpPr>
          <p:cNvPr id="31" name="Rounded Rectangle 30"/>
          <p:cNvSpPr/>
          <p:nvPr/>
        </p:nvSpPr>
        <p:spPr>
          <a:xfrm>
            <a:off x="4855464" y="3611879"/>
            <a:ext cx="2770632" cy="640080"/>
          </a:xfrm>
          <a:prstGeom prst="roundRect">
            <a:avLst>
              <a:gd name="adj" fmla="val 17142"/>
            </a:avLst>
          </a:prstGeom>
          <a:solidFill>
            <a:srgbClr val="C7F7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965192" y="3685031"/>
            <a:ext cx="2313432" cy="237744"/>
          </a:xfrm>
          <a:prstGeom prst="rect">
            <a:avLst/>
          </a:prstGeom>
          <a:noFill/>
        </p:spPr>
        <p:txBody>
          <a:bodyPr wrap="square" lIns="0" rIns="0" tIns="0" bIns="0"/>
          <a:lstStyle/>
          <a:p>
            <a:pPr algn="l">
              <a:spcAft>
                <a:spcPts val="0"/>
              </a:spcAft>
            </a:pPr>
            <a:r>
              <a:rPr sz="1300" b="1">
                <a:solidFill>
                  <a:srgbClr val="092B3C"/>
                </a:solidFill>
                <a:latin typeface="Calibri"/>
              </a:rPr>
              <a:t>Green Hills Academy</a:t>
            </a:r>
          </a:p>
        </p:txBody>
      </p:sp>
      <p:sp>
        <p:nvSpPr>
          <p:cNvPr id="33" name="TextBox 32"/>
          <p:cNvSpPr txBox="1"/>
          <p:nvPr/>
        </p:nvSpPr>
        <p:spPr>
          <a:xfrm>
            <a:off x="4965192" y="3922775"/>
            <a:ext cx="2313432" cy="201168"/>
          </a:xfrm>
          <a:prstGeom prst="rect">
            <a:avLst/>
          </a:prstGeom>
          <a:noFill/>
        </p:spPr>
        <p:txBody>
          <a:bodyPr wrap="square" lIns="0" rIns="0" tIns="0" bIns="0"/>
          <a:lstStyle/>
          <a:p>
            <a:pPr algn="l">
              <a:spcAft>
                <a:spcPts val="0"/>
              </a:spcAft>
            </a:pPr>
            <a:r>
              <a:rPr sz="1100" b="0">
                <a:solidFill>
                  <a:srgbClr val="5E7482"/>
                </a:solidFill>
                <a:latin typeface="Calibri"/>
              </a:rPr>
              <a:t>SCH-20126  ·  Kicukiro</a:t>
            </a:r>
          </a:p>
        </p:txBody>
      </p:sp>
      <p:sp>
        <p:nvSpPr>
          <p:cNvPr id="34" name="TextBox 33"/>
          <p:cNvSpPr txBox="1"/>
          <p:nvPr/>
        </p:nvSpPr>
        <p:spPr>
          <a:xfrm>
            <a:off x="7278624" y="3758183"/>
            <a:ext cx="256032" cy="292608"/>
          </a:xfrm>
          <a:prstGeom prst="rect">
            <a:avLst/>
          </a:prstGeom>
          <a:noFill/>
        </p:spPr>
        <p:txBody>
          <a:bodyPr wrap="square" lIns="0" rIns="0" tIns="0" bIns="0"/>
          <a:lstStyle/>
          <a:p>
            <a:pPr algn="l">
              <a:spcAft>
                <a:spcPts val="0"/>
              </a:spcAft>
            </a:pPr>
            <a:r>
              <a:rPr sz="1600" b="1">
                <a:solidFill>
                  <a:srgbClr val="092B3C"/>
                </a:solidFill>
                <a:latin typeface="Calibri"/>
              </a:rPr>
              <a:t>✓</a:t>
            </a:r>
          </a:p>
        </p:txBody>
      </p:sp>
      <p:sp>
        <p:nvSpPr>
          <p:cNvPr id="35" name="Rounded Rectangle 34"/>
          <p:cNvSpPr/>
          <p:nvPr/>
        </p:nvSpPr>
        <p:spPr>
          <a:xfrm>
            <a:off x="4855464" y="5413247"/>
            <a:ext cx="2770632" cy="384048"/>
          </a:xfrm>
          <a:prstGeom prst="roundRect">
            <a:avLst>
              <a:gd name="adj" fmla="val 23809"/>
            </a:avLst>
          </a:prstGeom>
          <a:solidFill>
            <a:srgbClr val="09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855464" y="5486399"/>
            <a:ext cx="2770632" cy="256032"/>
          </a:xfrm>
          <a:prstGeom prst="rect">
            <a:avLst/>
          </a:prstGeom>
          <a:noFill/>
        </p:spPr>
        <p:txBody>
          <a:bodyPr wrap="square" lIns="0" rIns="0" tIns="0" bIns="0"/>
          <a:lstStyle/>
          <a:p>
            <a:pPr algn="ctr">
              <a:spcAft>
                <a:spcPts val="0"/>
              </a:spcAft>
            </a:pPr>
            <a:r>
              <a:rPr sz="1300" b="1">
                <a:solidFill>
                  <a:srgbClr val="FFFFFF"/>
                </a:solidFill>
                <a:latin typeface="Calibri"/>
              </a:rPr>
              <a:t>Continue</a:t>
            </a:r>
          </a:p>
        </p:txBody>
      </p:sp>
      <p:sp>
        <p:nvSpPr>
          <p:cNvPr id="37" name="TextBox 36"/>
          <p:cNvSpPr txBox="1"/>
          <p:nvPr/>
        </p:nvSpPr>
        <p:spPr>
          <a:xfrm>
            <a:off x="8001000" y="2103120"/>
            <a:ext cx="3657600" cy="1371600"/>
          </a:xfrm>
          <a:prstGeom prst="rect">
            <a:avLst/>
          </a:prstGeom>
          <a:noFill/>
        </p:spPr>
        <p:txBody>
          <a:bodyPr wrap="square" lIns="0" rIns="0" tIns="0" bIns="0"/>
          <a:lstStyle/>
          <a:p>
            <a:pPr algn="l">
              <a:spcAft>
                <a:spcPts val="0"/>
              </a:spcAft>
            </a:pPr>
            <a:r>
              <a:rPr sz="1500" b="0">
                <a:solidFill>
                  <a:srgbClr val="16384A"/>
                </a:solidFill>
                <a:latin typeface="Calibri"/>
              </a:rPr>
              <a:t>Codes on the sample schools look like SCH-12345. The public school id can be searched too.</a:t>
            </a:r>
          </a:p>
        </p:txBody>
      </p:sp>
      <p:sp>
        <p:nvSpPr>
          <p:cNvPr id="38" name="TextBox 37"/>
          <p:cNvSpPr txBox="1"/>
          <p:nvPr/>
        </p:nvSpPr>
        <p:spPr>
          <a:xfrm>
            <a:off x="502920" y="6473952"/>
            <a:ext cx="7315200" cy="256032"/>
          </a:xfrm>
          <a:prstGeom prst="rect">
            <a:avLst/>
          </a:prstGeom>
          <a:noFill/>
        </p:spPr>
        <p:txBody>
          <a:bodyPr wrap="square" lIns="0" rIns="0" tIns="0" bIns="0"/>
          <a:lstStyle/>
          <a:p>
            <a:pPr algn="l">
              <a:spcAft>
                <a:spcPts val="0"/>
              </a:spcAft>
            </a:pPr>
            <a:r>
              <a:rPr sz="1100" b="0">
                <a:solidFill>
                  <a:srgbClr val="5E7482"/>
                </a:solidFill>
                <a:latin typeface="Calibri"/>
              </a:rPr>
              <a:t>RUPSA NEXT   ·   Parent &amp; Guardian mobile</a:t>
            </a:r>
          </a:p>
        </p:txBody>
      </p:sp>
      <p:sp>
        <p:nvSpPr>
          <p:cNvPr id="39" name="TextBox 38"/>
          <p:cNvSpPr txBox="1"/>
          <p:nvPr/>
        </p:nvSpPr>
        <p:spPr>
          <a:xfrm>
            <a:off x="10241280" y="6473952"/>
            <a:ext cx="1417320" cy="256032"/>
          </a:xfrm>
          <a:prstGeom prst="rect">
            <a:avLst/>
          </a:prstGeom>
          <a:noFill/>
        </p:spPr>
        <p:txBody>
          <a:bodyPr wrap="square" lIns="0" rIns="0" tIns="0" bIns="0"/>
          <a:lstStyle/>
          <a:p>
            <a:pPr algn="r">
              <a:spcAft>
                <a:spcPts val="0"/>
              </a:spcAft>
            </a:pPr>
            <a:r>
              <a:rPr sz="1100" b="0">
                <a:solidFill>
                  <a:srgbClr val="5E7482"/>
                </a:solidFill>
                <a:latin typeface="Calibri"/>
              </a:rPr>
              <a:t>7  /  12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595360" y="-1463040"/>
            <a:ext cx="4754880" cy="4754880"/>
          </a:xfrm>
          <a:prstGeom prst="ellipse">
            <a:avLst/>
          </a:prstGeom>
          <a:solidFill>
            <a:srgbClr val="18D6B4">
              <a:alpha val="2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45920" y="4206240"/>
            <a:ext cx="4206240" cy="4206240"/>
          </a:xfrm>
          <a:prstGeom prst="ellipse">
            <a:avLst/>
          </a:prstGeom>
          <a:solidFill>
            <a:srgbClr val="092B3C">
              <a:alpha val="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292608"/>
            <a:ext cx="7772400" cy="256032"/>
          </a:xfrm>
          <a:prstGeom prst="rect">
            <a:avLst/>
          </a:prstGeom>
          <a:noFill/>
        </p:spPr>
        <p:txBody>
          <a:bodyPr wrap="square" lIns="0" rIns="0" tIns="0" bIns="0"/>
          <a:lstStyle/>
          <a:p>
            <a:pPr algn="l">
              <a:spcAft>
                <a:spcPts val="0"/>
              </a:spcAft>
            </a:pPr>
            <a:r>
              <a:rPr sz="1200" b="1">
                <a:solidFill>
                  <a:srgbClr val="18D6B4"/>
                </a:solidFill>
                <a:latin typeface="Calibri"/>
              </a:rPr>
              <a:t>LINK A STUDENT</a:t>
            </a:r>
          </a:p>
        </p:txBody>
      </p:sp>
      <p:sp>
        <p:nvSpPr>
          <p:cNvPr id="6" name="TextBox 5"/>
          <p:cNvSpPr txBox="1"/>
          <p:nvPr/>
        </p:nvSpPr>
        <p:spPr>
          <a:xfrm>
            <a:off x="502920" y="530352"/>
            <a:ext cx="8046720" cy="502920"/>
          </a:xfrm>
          <a:prstGeom prst="rect">
            <a:avLst/>
          </a:prstGeom>
          <a:noFill/>
        </p:spPr>
        <p:txBody>
          <a:bodyPr wrap="square" lIns="0" rIns="0" tIns="0" bIns="0"/>
          <a:lstStyle/>
          <a:p>
            <a:pPr algn="l">
              <a:spcAft>
                <a:spcPts val="0"/>
              </a:spcAft>
            </a:pPr>
            <a:r>
              <a:rPr sz="3000" b="1">
                <a:solidFill>
                  <a:srgbClr val="092B3C"/>
                </a:solidFill>
                <a:latin typeface="Calibri"/>
              </a:rPr>
              <a:t>The student number opens the school record</a:t>
            </a:r>
          </a:p>
        </p:txBody>
      </p:sp>
      <p:sp>
        <p:nvSpPr>
          <p:cNvPr id="7" name="TextBox 6"/>
          <p:cNvSpPr txBox="1"/>
          <p:nvPr/>
        </p:nvSpPr>
        <p:spPr>
          <a:xfrm>
            <a:off x="502920" y="1078992"/>
            <a:ext cx="7863840" cy="640080"/>
          </a:xfrm>
          <a:prstGeom prst="rect">
            <a:avLst/>
          </a:prstGeom>
          <a:noFill/>
        </p:spPr>
        <p:txBody>
          <a:bodyPr wrap="square" lIns="0" rIns="0" tIns="0" bIns="0"/>
          <a:lstStyle/>
          <a:p>
            <a:pPr algn="l">
              <a:spcAft>
                <a:spcPts val="0"/>
              </a:spcAft>
            </a:pPr>
            <a:r>
              <a:rPr sz="1500" b="0">
                <a:solidFill>
                  <a:srgbClr val="5E7482"/>
                </a:solidFill>
                <a:latin typeface="Calibri"/>
              </a:rPr>
              <a:t>Continue stays off until that number matches a student at the chosen school.</a:t>
            </a:r>
          </a:p>
        </p:txBody>
      </p:sp>
      <p:sp>
        <p:nvSpPr>
          <p:cNvPr id="8" name="Rounded Rectangle 7"/>
          <p:cNvSpPr/>
          <p:nvPr/>
        </p:nvSpPr>
        <p:spPr>
          <a:xfrm>
            <a:off x="502920" y="1965960"/>
            <a:ext cx="5029200" cy="841248"/>
          </a:xfrm>
          <a:prstGeom prst="roundRect">
            <a:avLst>
              <a:gd name="adj" fmla="val 15217"/>
            </a:avLst>
          </a:prstGeom>
          <a:solidFill>
            <a:srgbClr val="FFFFFF">
              <a:alpha val="80000"/>
            </a:srgbClr>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2093976"/>
            <a:ext cx="1188720" cy="585216"/>
          </a:xfrm>
          <a:prstGeom prst="rect">
            <a:avLst/>
          </a:prstGeom>
          <a:noFill/>
        </p:spPr>
        <p:txBody>
          <a:bodyPr wrap="square" lIns="0" rIns="0" tIns="0" bIns="0"/>
          <a:lstStyle/>
          <a:p>
            <a:pPr algn="l">
              <a:spcAft>
                <a:spcPts val="0"/>
              </a:spcAft>
            </a:pPr>
            <a:r>
              <a:rPr sz="1600" b="1">
                <a:solidFill>
                  <a:srgbClr val="092B3C"/>
                </a:solidFill>
                <a:latin typeface="Calibri"/>
              </a:rPr>
              <a:t>Who</a:t>
            </a:r>
          </a:p>
        </p:txBody>
      </p:sp>
      <p:sp>
        <p:nvSpPr>
          <p:cNvPr id="10" name="TextBox 9"/>
          <p:cNvSpPr txBox="1"/>
          <p:nvPr/>
        </p:nvSpPr>
        <p:spPr>
          <a:xfrm>
            <a:off x="1965960" y="2093976"/>
            <a:ext cx="3337560" cy="585216"/>
          </a:xfrm>
          <a:prstGeom prst="rect">
            <a:avLst/>
          </a:prstGeom>
          <a:noFill/>
        </p:spPr>
        <p:txBody>
          <a:bodyPr wrap="square" lIns="0" rIns="0" tIns="0" bIns="0"/>
          <a:lstStyle/>
          <a:p>
            <a:pPr algn="l">
              <a:spcAft>
                <a:spcPts val="0"/>
              </a:spcAft>
            </a:pPr>
            <a:r>
              <a:rPr sz="1400" b="0">
                <a:solidFill>
                  <a:srgbClr val="5E7482"/>
                </a:solidFill>
                <a:latin typeface="Calibri"/>
              </a:rPr>
              <a:t>Name, class, year, and fee category.</a:t>
            </a:r>
          </a:p>
        </p:txBody>
      </p:sp>
      <p:sp>
        <p:nvSpPr>
          <p:cNvPr id="11" name="Rounded Rectangle 10"/>
          <p:cNvSpPr/>
          <p:nvPr/>
        </p:nvSpPr>
        <p:spPr>
          <a:xfrm>
            <a:off x="502920" y="2926080"/>
            <a:ext cx="5029200" cy="841248"/>
          </a:xfrm>
          <a:prstGeom prst="roundRect">
            <a:avLst>
              <a:gd name="adj" fmla="val 15217"/>
            </a:avLst>
          </a:prstGeom>
          <a:solidFill>
            <a:srgbClr val="FFFFFF">
              <a:alpha val="80000"/>
            </a:srgbClr>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13232" y="3054096"/>
            <a:ext cx="1188720" cy="585216"/>
          </a:xfrm>
          <a:prstGeom prst="rect">
            <a:avLst/>
          </a:prstGeom>
          <a:noFill/>
        </p:spPr>
        <p:txBody>
          <a:bodyPr wrap="square" lIns="0" rIns="0" tIns="0" bIns="0"/>
          <a:lstStyle/>
          <a:p>
            <a:pPr algn="l">
              <a:spcAft>
                <a:spcPts val="0"/>
              </a:spcAft>
            </a:pPr>
            <a:r>
              <a:rPr sz="1600" b="1">
                <a:solidFill>
                  <a:srgbClr val="092B3C"/>
                </a:solidFill>
                <a:latin typeface="Calibri"/>
              </a:rPr>
              <a:t>Where</a:t>
            </a:r>
          </a:p>
        </p:txBody>
      </p:sp>
      <p:sp>
        <p:nvSpPr>
          <p:cNvPr id="13" name="TextBox 12"/>
          <p:cNvSpPr txBox="1"/>
          <p:nvPr/>
        </p:nvSpPr>
        <p:spPr>
          <a:xfrm>
            <a:off x="1965960" y="3054096"/>
            <a:ext cx="3337560" cy="585216"/>
          </a:xfrm>
          <a:prstGeom prst="rect">
            <a:avLst/>
          </a:prstGeom>
          <a:noFill/>
        </p:spPr>
        <p:txBody>
          <a:bodyPr wrap="square" lIns="0" rIns="0" tIns="0" bIns="0"/>
          <a:lstStyle/>
          <a:p>
            <a:pPr algn="l">
              <a:spcAft>
                <a:spcPts val="0"/>
              </a:spcAft>
            </a:pPr>
            <a:r>
              <a:rPr sz="1400" b="0">
                <a:solidFill>
                  <a:srgbClr val="5E7482"/>
                </a:solidFill>
                <a:latin typeface="Calibri"/>
              </a:rPr>
              <a:t>School name, school code, and district.</a:t>
            </a:r>
          </a:p>
        </p:txBody>
      </p:sp>
      <p:sp>
        <p:nvSpPr>
          <p:cNvPr id="14" name="Rounded Rectangle 13"/>
          <p:cNvSpPr/>
          <p:nvPr/>
        </p:nvSpPr>
        <p:spPr>
          <a:xfrm>
            <a:off x="502920" y="3886200"/>
            <a:ext cx="5029200" cy="841248"/>
          </a:xfrm>
          <a:prstGeom prst="roundRect">
            <a:avLst>
              <a:gd name="adj" fmla="val 15217"/>
            </a:avLst>
          </a:prstGeom>
          <a:solidFill>
            <a:srgbClr val="FFFFFF">
              <a:alpha val="80000"/>
            </a:srgbClr>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13232" y="4014216"/>
            <a:ext cx="1188720" cy="585216"/>
          </a:xfrm>
          <a:prstGeom prst="rect">
            <a:avLst/>
          </a:prstGeom>
          <a:noFill/>
        </p:spPr>
        <p:txBody>
          <a:bodyPr wrap="square" lIns="0" rIns="0" tIns="0" bIns="0"/>
          <a:lstStyle/>
          <a:p>
            <a:pPr algn="l">
              <a:spcAft>
                <a:spcPts val="0"/>
              </a:spcAft>
            </a:pPr>
            <a:r>
              <a:rPr sz="1600" b="1">
                <a:solidFill>
                  <a:srgbClr val="092B3C"/>
                </a:solidFill>
                <a:latin typeface="Calibri"/>
              </a:rPr>
              <a:t>Money</a:t>
            </a:r>
          </a:p>
        </p:txBody>
      </p:sp>
      <p:sp>
        <p:nvSpPr>
          <p:cNvPr id="16" name="TextBox 15"/>
          <p:cNvSpPr txBox="1"/>
          <p:nvPr/>
        </p:nvSpPr>
        <p:spPr>
          <a:xfrm>
            <a:off x="1965960" y="4014216"/>
            <a:ext cx="3337560" cy="585216"/>
          </a:xfrm>
          <a:prstGeom prst="rect">
            <a:avLst/>
          </a:prstGeom>
          <a:noFill/>
        </p:spPr>
        <p:txBody>
          <a:bodyPr wrap="square" lIns="0" rIns="0" tIns="0" bIns="0"/>
          <a:lstStyle/>
          <a:p>
            <a:pPr algn="l">
              <a:spcAft>
                <a:spcPts val="0"/>
              </a:spcAft>
            </a:pPr>
            <a:r>
              <a:rPr sz="1400" b="0">
                <a:solidFill>
                  <a:srgbClr val="5E7482"/>
                </a:solidFill>
                <a:latin typeface="Calibri"/>
              </a:rPr>
              <a:t>Billed, paid, and due, plus each invoice.</a:t>
            </a:r>
          </a:p>
        </p:txBody>
      </p:sp>
      <p:sp>
        <p:nvSpPr>
          <p:cNvPr id="17" name="Rounded Rectangle 16"/>
          <p:cNvSpPr/>
          <p:nvPr/>
        </p:nvSpPr>
        <p:spPr>
          <a:xfrm>
            <a:off x="502920" y="4846320"/>
            <a:ext cx="5029200" cy="841248"/>
          </a:xfrm>
          <a:prstGeom prst="roundRect">
            <a:avLst>
              <a:gd name="adj" fmla="val 15217"/>
            </a:avLst>
          </a:prstGeom>
          <a:solidFill>
            <a:srgbClr val="FFFFFF">
              <a:alpha val="80000"/>
            </a:srgbClr>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13232" y="4974336"/>
            <a:ext cx="1188720" cy="585216"/>
          </a:xfrm>
          <a:prstGeom prst="rect">
            <a:avLst/>
          </a:prstGeom>
          <a:noFill/>
        </p:spPr>
        <p:txBody>
          <a:bodyPr wrap="square" lIns="0" rIns="0" tIns="0" bIns="0"/>
          <a:lstStyle/>
          <a:p>
            <a:pPr algn="l">
              <a:spcAft>
                <a:spcPts val="0"/>
              </a:spcAft>
            </a:pPr>
            <a:r>
              <a:rPr sz="1600" b="1">
                <a:solidFill>
                  <a:srgbClr val="092B3C"/>
                </a:solidFill>
                <a:latin typeface="Calibri"/>
              </a:rPr>
              <a:t>Then</a:t>
            </a:r>
          </a:p>
        </p:txBody>
      </p:sp>
      <p:sp>
        <p:nvSpPr>
          <p:cNvPr id="19" name="TextBox 18"/>
          <p:cNvSpPr txBox="1"/>
          <p:nvPr/>
        </p:nvSpPr>
        <p:spPr>
          <a:xfrm>
            <a:off x="1965960" y="4974336"/>
            <a:ext cx="3337560" cy="585216"/>
          </a:xfrm>
          <a:prstGeom prst="rect">
            <a:avLst/>
          </a:prstGeom>
          <a:noFill/>
        </p:spPr>
        <p:txBody>
          <a:bodyPr wrap="square" lIns="0" rIns="0" tIns="0" bIns="0"/>
          <a:lstStyle/>
          <a:p>
            <a:pPr algn="l">
              <a:spcAft>
                <a:spcPts val="0"/>
              </a:spcAft>
            </a:pPr>
            <a:r>
              <a:rPr sz="1400" b="0">
                <a:solidFill>
                  <a:srgbClr val="5E7482"/>
                </a:solidFill>
                <a:latin typeface="Calibri"/>
              </a:rPr>
              <a:t>The parent picks mother, father, or guardian and confirms.</a:t>
            </a:r>
          </a:p>
        </p:txBody>
      </p:sp>
      <p:sp>
        <p:nvSpPr>
          <p:cNvPr id="20" name="Rounded Rectangle 19"/>
          <p:cNvSpPr/>
          <p:nvPr/>
        </p:nvSpPr>
        <p:spPr>
          <a:xfrm>
            <a:off x="5852160" y="1691640"/>
            <a:ext cx="2926080" cy="4434840"/>
          </a:xfrm>
          <a:prstGeom prst="roundRect">
            <a:avLst>
              <a:gd name="adj" fmla="val 8750"/>
            </a:avLst>
          </a:prstGeom>
          <a:solidFill>
            <a:srgbClr val="FFFFFF">
              <a:alpha val="82000"/>
            </a:srgbClr>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7059168" y="1801368"/>
            <a:ext cx="512064" cy="54864"/>
          </a:xfrm>
          <a:prstGeom prst="roundRect">
            <a:avLst>
              <a:gd name="adj" fmla="val 50000"/>
            </a:avLst>
          </a:prstGeom>
          <a:solidFill>
            <a:srgbClr val="E3EE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998464" y="1984248"/>
            <a:ext cx="2633472" cy="182880"/>
          </a:xfrm>
          <a:prstGeom prst="rect">
            <a:avLst/>
          </a:prstGeom>
          <a:noFill/>
        </p:spPr>
        <p:txBody>
          <a:bodyPr wrap="square" lIns="0" rIns="0" tIns="0" bIns="0"/>
          <a:lstStyle/>
          <a:p>
            <a:pPr algn="l">
              <a:spcAft>
                <a:spcPts val="0"/>
              </a:spcAft>
            </a:pPr>
            <a:r>
              <a:rPr sz="1000" b="1">
                <a:solidFill>
                  <a:srgbClr val="5E7482"/>
                </a:solidFill>
                <a:latin typeface="Calibri"/>
              </a:rPr>
              <a:t>STUDENT NUMBER</a:t>
            </a:r>
          </a:p>
        </p:txBody>
      </p:sp>
      <p:sp>
        <p:nvSpPr>
          <p:cNvPr id="23" name="Rounded Rectangle 22"/>
          <p:cNvSpPr/>
          <p:nvPr/>
        </p:nvSpPr>
        <p:spPr>
          <a:xfrm>
            <a:off x="5998464" y="2203704"/>
            <a:ext cx="2633472" cy="365760"/>
          </a:xfrm>
          <a:prstGeom prst="roundRect">
            <a:avLst>
              <a:gd name="adj" fmla="val 20000"/>
            </a:avLst>
          </a:prstGeom>
          <a:solidFill>
            <a:srgbClr val="FFFFFF">
              <a:alpha val="95000"/>
            </a:srgbClr>
          </a:solidFill>
          <a:ln w="9525">
            <a:solidFill>
              <a:srgbClr val="E3EE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08192" y="2276856"/>
            <a:ext cx="2450592" cy="237744"/>
          </a:xfrm>
          <a:prstGeom prst="rect">
            <a:avLst/>
          </a:prstGeom>
          <a:noFill/>
        </p:spPr>
        <p:txBody>
          <a:bodyPr wrap="square" lIns="0" rIns="0" tIns="0" bIns="0"/>
          <a:lstStyle/>
          <a:p>
            <a:pPr algn="l">
              <a:spcAft>
                <a:spcPts val="0"/>
              </a:spcAft>
            </a:pPr>
            <a:r>
              <a:rPr sz="1300" b="1">
                <a:solidFill>
                  <a:srgbClr val="092B3C"/>
                </a:solidFill>
                <a:latin typeface="Calibri"/>
              </a:rPr>
              <a:t>STU-10001</a:t>
            </a:r>
          </a:p>
        </p:txBody>
      </p:sp>
      <p:sp>
        <p:nvSpPr>
          <p:cNvPr id="25" name="TextBox 24"/>
          <p:cNvSpPr txBox="1"/>
          <p:nvPr/>
        </p:nvSpPr>
        <p:spPr>
          <a:xfrm>
            <a:off x="5998464" y="2715768"/>
            <a:ext cx="2633472" cy="256032"/>
          </a:xfrm>
          <a:prstGeom prst="rect">
            <a:avLst/>
          </a:prstGeom>
          <a:noFill/>
        </p:spPr>
        <p:txBody>
          <a:bodyPr wrap="square" lIns="0" rIns="0" tIns="0" bIns="0"/>
          <a:lstStyle/>
          <a:p>
            <a:pPr algn="l">
              <a:spcAft>
                <a:spcPts val="0"/>
              </a:spcAft>
            </a:pPr>
            <a:r>
              <a:rPr sz="1600" b="1">
                <a:solidFill>
                  <a:srgbClr val="092B3C"/>
                </a:solidFill>
                <a:latin typeface="Calibri"/>
              </a:rPr>
              <a:t>Aline Uwase</a:t>
            </a:r>
          </a:p>
        </p:txBody>
      </p:sp>
      <p:sp>
        <p:nvSpPr>
          <p:cNvPr id="26" name="TextBox 25"/>
          <p:cNvSpPr txBox="1"/>
          <p:nvPr/>
        </p:nvSpPr>
        <p:spPr>
          <a:xfrm>
            <a:off x="5998464" y="2971800"/>
            <a:ext cx="2633472" cy="201168"/>
          </a:xfrm>
          <a:prstGeom prst="rect">
            <a:avLst/>
          </a:prstGeom>
          <a:noFill/>
        </p:spPr>
        <p:txBody>
          <a:bodyPr wrap="square" lIns="0" rIns="0" tIns="0" bIns="0"/>
          <a:lstStyle/>
          <a:p>
            <a:pPr algn="l">
              <a:spcAft>
                <a:spcPts val="0"/>
              </a:spcAft>
            </a:pPr>
            <a:r>
              <a:rPr sz="1100" b="0">
                <a:solidFill>
                  <a:srgbClr val="5E7482"/>
                </a:solidFill>
                <a:latin typeface="Calibri"/>
              </a:rPr>
              <a:t>S3  ·  2026  ·  day</a:t>
            </a:r>
          </a:p>
        </p:txBody>
      </p:sp>
      <p:sp>
        <p:nvSpPr>
          <p:cNvPr id="27" name="TextBox 26"/>
          <p:cNvSpPr txBox="1"/>
          <p:nvPr/>
        </p:nvSpPr>
        <p:spPr>
          <a:xfrm>
            <a:off x="5998464" y="3172968"/>
            <a:ext cx="2633472" cy="201168"/>
          </a:xfrm>
          <a:prstGeom prst="rect">
            <a:avLst/>
          </a:prstGeom>
          <a:noFill/>
        </p:spPr>
        <p:txBody>
          <a:bodyPr wrap="square" lIns="0" rIns="0" tIns="0" bIns="0"/>
          <a:lstStyle/>
          <a:p>
            <a:pPr algn="l">
              <a:spcAft>
                <a:spcPts val="0"/>
              </a:spcAft>
            </a:pPr>
            <a:r>
              <a:rPr sz="1100" b="0">
                <a:solidFill>
                  <a:srgbClr val="5E7482"/>
                </a:solidFill>
                <a:latin typeface="Calibri"/>
              </a:rPr>
              <a:t>Example Private School · SCH-12345</a:t>
            </a:r>
          </a:p>
        </p:txBody>
      </p:sp>
      <p:sp>
        <p:nvSpPr>
          <p:cNvPr id="28" name="TextBox 27"/>
          <p:cNvSpPr txBox="1"/>
          <p:nvPr/>
        </p:nvSpPr>
        <p:spPr>
          <a:xfrm>
            <a:off x="5998464" y="3538728"/>
            <a:ext cx="877824" cy="164592"/>
          </a:xfrm>
          <a:prstGeom prst="rect">
            <a:avLst/>
          </a:prstGeom>
          <a:noFill/>
        </p:spPr>
        <p:txBody>
          <a:bodyPr wrap="square" lIns="0" rIns="0" tIns="0" bIns="0"/>
          <a:lstStyle/>
          <a:p>
            <a:pPr algn="l">
              <a:spcAft>
                <a:spcPts val="0"/>
              </a:spcAft>
            </a:pPr>
            <a:r>
              <a:rPr sz="900" b="1">
                <a:solidFill>
                  <a:srgbClr val="5E7482"/>
                </a:solidFill>
                <a:latin typeface="Calibri"/>
              </a:rPr>
              <a:t>BILLED</a:t>
            </a:r>
          </a:p>
        </p:txBody>
      </p:sp>
      <p:sp>
        <p:nvSpPr>
          <p:cNvPr id="29" name="TextBox 28"/>
          <p:cNvSpPr txBox="1"/>
          <p:nvPr/>
        </p:nvSpPr>
        <p:spPr>
          <a:xfrm>
            <a:off x="5998464" y="3703320"/>
            <a:ext cx="877824" cy="219456"/>
          </a:xfrm>
          <a:prstGeom prst="rect">
            <a:avLst/>
          </a:prstGeom>
          <a:noFill/>
        </p:spPr>
        <p:txBody>
          <a:bodyPr wrap="square" lIns="0" rIns="0" tIns="0" bIns="0"/>
          <a:lstStyle/>
          <a:p>
            <a:pPr algn="l">
              <a:spcAft>
                <a:spcPts val="0"/>
              </a:spcAft>
            </a:pPr>
            <a:r>
              <a:rPr sz="1200" b="1">
                <a:solidFill>
                  <a:srgbClr val="092B3C"/>
                </a:solidFill>
                <a:latin typeface="Calibri"/>
              </a:rPr>
              <a:t>Sample</a:t>
            </a:r>
          </a:p>
        </p:txBody>
      </p:sp>
      <p:sp>
        <p:nvSpPr>
          <p:cNvPr id="30" name="TextBox 29"/>
          <p:cNvSpPr txBox="1"/>
          <p:nvPr/>
        </p:nvSpPr>
        <p:spPr>
          <a:xfrm>
            <a:off x="6876288" y="3538728"/>
            <a:ext cx="877824" cy="164592"/>
          </a:xfrm>
          <a:prstGeom prst="rect">
            <a:avLst/>
          </a:prstGeom>
          <a:noFill/>
        </p:spPr>
        <p:txBody>
          <a:bodyPr wrap="square" lIns="0" rIns="0" tIns="0" bIns="0"/>
          <a:lstStyle/>
          <a:p>
            <a:pPr algn="l">
              <a:spcAft>
                <a:spcPts val="0"/>
              </a:spcAft>
            </a:pPr>
            <a:r>
              <a:rPr sz="900" b="1">
                <a:solidFill>
                  <a:srgbClr val="5E7482"/>
                </a:solidFill>
                <a:latin typeface="Calibri"/>
              </a:rPr>
              <a:t>PAID</a:t>
            </a:r>
          </a:p>
        </p:txBody>
      </p:sp>
      <p:sp>
        <p:nvSpPr>
          <p:cNvPr id="31" name="TextBox 30"/>
          <p:cNvSpPr txBox="1"/>
          <p:nvPr/>
        </p:nvSpPr>
        <p:spPr>
          <a:xfrm>
            <a:off x="6876288" y="3703320"/>
            <a:ext cx="877824" cy="219456"/>
          </a:xfrm>
          <a:prstGeom prst="rect">
            <a:avLst/>
          </a:prstGeom>
          <a:noFill/>
        </p:spPr>
        <p:txBody>
          <a:bodyPr wrap="square" lIns="0" rIns="0" tIns="0" bIns="0"/>
          <a:lstStyle/>
          <a:p>
            <a:pPr algn="l">
              <a:spcAft>
                <a:spcPts val="0"/>
              </a:spcAft>
            </a:pPr>
            <a:r>
              <a:rPr sz="1200" b="1">
                <a:solidFill>
                  <a:srgbClr val="092B3C"/>
                </a:solidFill>
                <a:latin typeface="Calibri"/>
              </a:rPr>
              <a:t>Sample</a:t>
            </a:r>
          </a:p>
        </p:txBody>
      </p:sp>
      <p:sp>
        <p:nvSpPr>
          <p:cNvPr id="32" name="TextBox 31"/>
          <p:cNvSpPr txBox="1"/>
          <p:nvPr/>
        </p:nvSpPr>
        <p:spPr>
          <a:xfrm>
            <a:off x="7754112" y="3538728"/>
            <a:ext cx="877824" cy="164592"/>
          </a:xfrm>
          <a:prstGeom prst="rect">
            <a:avLst/>
          </a:prstGeom>
          <a:noFill/>
        </p:spPr>
        <p:txBody>
          <a:bodyPr wrap="square" lIns="0" rIns="0" tIns="0" bIns="0"/>
          <a:lstStyle/>
          <a:p>
            <a:pPr algn="l">
              <a:spcAft>
                <a:spcPts val="0"/>
              </a:spcAft>
            </a:pPr>
            <a:r>
              <a:rPr sz="900" b="1">
                <a:solidFill>
                  <a:srgbClr val="5E7482"/>
                </a:solidFill>
                <a:latin typeface="Calibri"/>
              </a:rPr>
              <a:t>DUE</a:t>
            </a:r>
          </a:p>
        </p:txBody>
      </p:sp>
      <p:sp>
        <p:nvSpPr>
          <p:cNvPr id="33" name="TextBox 32"/>
          <p:cNvSpPr txBox="1"/>
          <p:nvPr/>
        </p:nvSpPr>
        <p:spPr>
          <a:xfrm>
            <a:off x="7754112" y="3703320"/>
            <a:ext cx="877824" cy="219456"/>
          </a:xfrm>
          <a:prstGeom prst="rect">
            <a:avLst/>
          </a:prstGeom>
          <a:noFill/>
        </p:spPr>
        <p:txBody>
          <a:bodyPr wrap="square" lIns="0" rIns="0" tIns="0" bIns="0"/>
          <a:lstStyle/>
          <a:p>
            <a:pPr algn="l">
              <a:spcAft>
                <a:spcPts val="0"/>
              </a:spcAft>
            </a:pPr>
            <a:r>
              <a:rPr sz="1200" b="1">
                <a:solidFill>
                  <a:srgbClr val="0E8F78"/>
                </a:solidFill>
                <a:latin typeface="Calibri"/>
              </a:rPr>
              <a:t>Sample</a:t>
            </a:r>
          </a:p>
        </p:txBody>
      </p:sp>
      <p:sp>
        <p:nvSpPr>
          <p:cNvPr id="34" name="TextBox 33"/>
          <p:cNvSpPr txBox="1"/>
          <p:nvPr/>
        </p:nvSpPr>
        <p:spPr>
          <a:xfrm>
            <a:off x="5998464" y="4087368"/>
            <a:ext cx="2633472" cy="640080"/>
          </a:xfrm>
          <a:prstGeom prst="rect">
            <a:avLst/>
          </a:prstGeom>
          <a:noFill/>
        </p:spPr>
        <p:txBody>
          <a:bodyPr wrap="square" lIns="0" rIns="0" tIns="0" bIns="0"/>
          <a:lstStyle/>
          <a:p>
            <a:pPr algn="l">
              <a:spcAft>
                <a:spcPts val="0"/>
              </a:spcAft>
            </a:pPr>
            <a:r>
              <a:rPr sz="1200" b="0">
                <a:solidFill>
                  <a:srgbClr val="5E7482"/>
                </a:solidFill>
                <a:latin typeface="Calibri"/>
              </a:rPr>
              <a:t>Invoices appear under the figures, with status and balance.</a:t>
            </a:r>
          </a:p>
        </p:txBody>
      </p:sp>
      <p:sp>
        <p:nvSpPr>
          <p:cNvPr id="35" name="Rounded Rectangle 34"/>
          <p:cNvSpPr/>
          <p:nvPr/>
        </p:nvSpPr>
        <p:spPr>
          <a:xfrm>
            <a:off x="5998464" y="5550408"/>
            <a:ext cx="2633472" cy="384048"/>
          </a:xfrm>
          <a:prstGeom prst="roundRect">
            <a:avLst>
              <a:gd name="adj" fmla="val 23809"/>
            </a:avLst>
          </a:prstGeom>
          <a:solidFill>
            <a:srgbClr val="09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998464" y="5623560"/>
            <a:ext cx="2633472" cy="256032"/>
          </a:xfrm>
          <a:prstGeom prst="rect">
            <a:avLst/>
          </a:prstGeom>
          <a:noFill/>
        </p:spPr>
        <p:txBody>
          <a:bodyPr wrap="square" lIns="0" rIns="0" tIns="0" bIns="0"/>
          <a:lstStyle/>
          <a:p>
            <a:pPr algn="ctr">
              <a:spcAft>
                <a:spcPts val="0"/>
              </a:spcAft>
            </a:pPr>
            <a:r>
              <a:rPr sz="1300" b="1">
                <a:solidFill>
                  <a:srgbClr val="FFFFFF"/>
                </a:solidFill>
                <a:latin typeface="Calibri"/>
              </a:rPr>
              <a:t>Continue</a:t>
            </a:r>
          </a:p>
        </p:txBody>
      </p:sp>
      <p:sp>
        <p:nvSpPr>
          <p:cNvPr id="37" name="TextBox 36"/>
          <p:cNvSpPr txBox="1"/>
          <p:nvPr/>
        </p:nvSpPr>
        <p:spPr>
          <a:xfrm>
            <a:off x="8961120" y="1920240"/>
            <a:ext cx="2834640" cy="1463040"/>
          </a:xfrm>
          <a:prstGeom prst="rect">
            <a:avLst/>
          </a:prstGeom>
          <a:noFill/>
        </p:spPr>
        <p:txBody>
          <a:bodyPr wrap="square" lIns="0" rIns="0" tIns="0" bIns="0"/>
          <a:lstStyle/>
          <a:p>
            <a:pPr algn="l">
              <a:spcAft>
                <a:spcPts val="0"/>
              </a:spcAft>
            </a:pPr>
            <a:r>
              <a:rPr sz="1500" b="0">
                <a:solidFill>
                  <a:srgbClr val="16384A"/>
                </a:solidFill>
                <a:latin typeface="Calibri"/>
              </a:rPr>
              <a:t>A number that does not match says so, and does not reveal another school’s student.</a:t>
            </a:r>
          </a:p>
        </p:txBody>
      </p:sp>
      <p:sp>
        <p:nvSpPr>
          <p:cNvPr id="38" name="TextBox 37"/>
          <p:cNvSpPr txBox="1"/>
          <p:nvPr/>
        </p:nvSpPr>
        <p:spPr>
          <a:xfrm>
            <a:off x="502920" y="6473952"/>
            <a:ext cx="7315200" cy="256032"/>
          </a:xfrm>
          <a:prstGeom prst="rect">
            <a:avLst/>
          </a:prstGeom>
          <a:noFill/>
        </p:spPr>
        <p:txBody>
          <a:bodyPr wrap="square" lIns="0" rIns="0" tIns="0" bIns="0"/>
          <a:lstStyle/>
          <a:p>
            <a:pPr algn="l">
              <a:spcAft>
                <a:spcPts val="0"/>
              </a:spcAft>
            </a:pPr>
            <a:r>
              <a:rPr sz="1100" b="0">
                <a:solidFill>
                  <a:srgbClr val="5E7482"/>
                </a:solidFill>
                <a:latin typeface="Calibri"/>
              </a:rPr>
              <a:t>RUPSA NEXT   ·   Parent &amp; Guardian mobile</a:t>
            </a:r>
          </a:p>
        </p:txBody>
      </p:sp>
      <p:sp>
        <p:nvSpPr>
          <p:cNvPr id="39" name="TextBox 38"/>
          <p:cNvSpPr txBox="1"/>
          <p:nvPr/>
        </p:nvSpPr>
        <p:spPr>
          <a:xfrm>
            <a:off x="10241280" y="6473952"/>
            <a:ext cx="1417320" cy="256032"/>
          </a:xfrm>
          <a:prstGeom prst="rect">
            <a:avLst/>
          </a:prstGeom>
          <a:noFill/>
        </p:spPr>
        <p:txBody>
          <a:bodyPr wrap="square" lIns="0" rIns="0" tIns="0" bIns="0"/>
          <a:lstStyle/>
          <a:p>
            <a:pPr algn="r">
              <a:spcAft>
                <a:spcPts val="0"/>
              </a:spcAft>
            </a:pPr>
            <a:r>
              <a:rPr sz="1100" b="0">
                <a:solidFill>
                  <a:srgbClr val="5E7482"/>
                </a:solidFill>
                <a:latin typeface="Calibri"/>
              </a:rPr>
              <a:t>8  /  12</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595360" y="-1463040"/>
            <a:ext cx="4754880" cy="4754880"/>
          </a:xfrm>
          <a:prstGeom prst="ellipse">
            <a:avLst/>
          </a:prstGeom>
          <a:solidFill>
            <a:srgbClr val="18D6B4">
              <a:alpha val="2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45920" y="4206240"/>
            <a:ext cx="4206240" cy="4206240"/>
          </a:xfrm>
          <a:prstGeom prst="ellipse">
            <a:avLst/>
          </a:prstGeom>
          <a:solidFill>
            <a:srgbClr val="092B3C">
              <a:alpha val="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292608"/>
            <a:ext cx="7772400" cy="256032"/>
          </a:xfrm>
          <a:prstGeom prst="rect">
            <a:avLst/>
          </a:prstGeom>
          <a:noFill/>
        </p:spPr>
        <p:txBody>
          <a:bodyPr wrap="square" lIns="0" rIns="0" tIns="0" bIns="0"/>
          <a:lstStyle/>
          <a:p>
            <a:pPr algn="l">
              <a:spcAft>
                <a:spcPts val="0"/>
              </a:spcAft>
            </a:pPr>
            <a:r>
              <a:rPr sz="1200" b="1">
                <a:solidFill>
                  <a:srgbClr val="18D6B4"/>
                </a:solidFill>
                <a:latin typeface="Calibri"/>
              </a:rPr>
              <a:t>AFTER LINKING</a:t>
            </a:r>
          </a:p>
        </p:txBody>
      </p:sp>
      <p:sp>
        <p:nvSpPr>
          <p:cNvPr id="6" name="TextBox 5"/>
          <p:cNvSpPr txBox="1"/>
          <p:nvPr/>
        </p:nvSpPr>
        <p:spPr>
          <a:xfrm>
            <a:off x="502920" y="530352"/>
            <a:ext cx="8046720" cy="502920"/>
          </a:xfrm>
          <a:prstGeom prst="rect">
            <a:avLst/>
          </a:prstGeom>
          <a:noFill/>
        </p:spPr>
        <p:txBody>
          <a:bodyPr wrap="square" lIns="0" rIns="0" tIns="0" bIns="0"/>
          <a:lstStyle/>
          <a:p>
            <a:pPr algn="l">
              <a:spcAft>
                <a:spcPts val="0"/>
              </a:spcAft>
            </a:pPr>
            <a:r>
              <a:rPr sz="3000" b="1">
                <a:solidFill>
                  <a:srgbClr val="092B3C"/>
                </a:solidFill>
                <a:latin typeface="Calibri"/>
              </a:rPr>
              <a:t>A notice, then the list of children</a:t>
            </a:r>
          </a:p>
        </p:txBody>
      </p:sp>
      <p:sp>
        <p:nvSpPr>
          <p:cNvPr id="7" name="TextBox 6"/>
          <p:cNvSpPr txBox="1"/>
          <p:nvPr/>
        </p:nvSpPr>
        <p:spPr>
          <a:xfrm>
            <a:off x="502920" y="1078992"/>
            <a:ext cx="7863840" cy="640080"/>
          </a:xfrm>
          <a:prstGeom prst="rect">
            <a:avLst/>
          </a:prstGeom>
          <a:noFill/>
        </p:spPr>
        <p:txBody>
          <a:bodyPr wrap="square" lIns="0" rIns="0" tIns="0" bIns="0"/>
          <a:lstStyle/>
          <a:p>
            <a:pPr algn="l">
              <a:spcAft>
                <a:spcPts val="0"/>
              </a:spcAft>
            </a:pPr>
            <a:r>
              <a:rPr sz="1500" b="0">
                <a:solidFill>
                  <a:srgbClr val="5E7482"/>
                </a:solidFill>
                <a:latin typeface="Calibri"/>
              </a:rPr>
              <a:t>The parent does not stay on the form. Home opens on the accounts, with the new child highlighted.</a:t>
            </a:r>
          </a:p>
        </p:txBody>
      </p:sp>
      <p:sp>
        <p:nvSpPr>
          <p:cNvPr id="8" name="Rounded Rectangle 7"/>
          <p:cNvSpPr/>
          <p:nvPr/>
        </p:nvSpPr>
        <p:spPr>
          <a:xfrm>
            <a:off x="502920" y="2011680"/>
            <a:ext cx="5212080" cy="1417320"/>
          </a:xfrm>
          <a:prstGeom prst="roundRect">
            <a:avLst>
              <a:gd name="adj" fmla="val 10322"/>
            </a:avLst>
          </a:prstGeom>
          <a:solidFill>
            <a:srgbClr val="C7F7ED">
              <a:alpha val="8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2194560"/>
            <a:ext cx="4754880" cy="292608"/>
          </a:xfrm>
          <a:prstGeom prst="rect">
            <a:avLst/>
          </a:prstGeom>
          <a:noFill/>
        </p:spPr>
        <p:txBody>
          <a:bodyPr wrap="square" lIns="0" rIns="0" tIns="0" bIns="0"/>
          <a:lstStyle/>
          <a:p>
            <a:pPr algn="l">
              <a:spcAft>
                <a:spcPts val="0"/>
              </a:spcAft>
            </a:pPr>
            <a:r>
              <a:rPr sz="1600" b="1">
                <a:solidFill>
                  <a:srgbClr val="092B3C"/>
                </a:solidFill>
                <a:latin typeface="Calibri"/>
              </a:rPr>
              <a:t>Link completed</a:t>
            </a:r>
          </a:p>
        </p:txBody>
      </p:sp>
      <p:sp>
        <p:nvSpPr>
          <p:cNvPr id="10" name="TextBox 9"/>
          <p:cNvSpPr txBox="1"/>
          <p:nvPr/>
        </p:nvSpPr>
        <p:spPr>
          <a:xfrm>
            <a:off x="731520" y="2560320"/>
            <a:ext cx="4754880" cy="594360"/>
          </a:xfrm>
          <a:prstGeom prst="rect">
            <a:avLst/>
          </a:prstGeom>
          <a:noFill/>
        </p:spPr>
        <p:txBody>
          <a:bodyPr wrap="square" lIns="0" rIns="0" tIns="0" bIns="0"/>
          <a:lstStyle/>
          <a:p>
            <a:pPr algn="l">
              <a:spcAft>
                <a:spcPts val="0"/>
              </a:spcAft>
            </a:pPr>
            <a:r>
              <a:rPr sz="1500" b="0">
                <a:solidFill>
                  <a:srgbClr val="16384A"/>
                </a:solidFill>
                <a:latin typeface="Calibri"/>
              </a:rPr>
              <a:t>Aline Uwase at Example Private School is now on your account.</a:t>
            </a:r>
          </a:p>
        </p:txBody>
      </p:sp>
      <p:sp>
        <p:nvSpPr>
          <p:cNvPr id="11" name="TextBox 10"/>
          <p:cNvSpPr txBox="1"/>
          <p:nvPr/>
        </p:nvSpPr>
        <p:spPr>
          <a:xfrm>
            <a:off x="502920" y="3657600"/>
            <a:ext cx="5212080" cy="731520"/>
          </a:xfrm>
          <a:prstGeom prst="rect">
            <a:avLst/>
          </a:prstGeom>
          <a:noFill/>
        </p:spPr>
        <p:txBody>
          <a:bodyPr wrap="square" lIns="0" rIns="0" tIns="0" bIns="0"/>
          <a:lstStyle/>
          <a:p>
            <a:pPr algn="l">
              <a:spcAft>
                <a:spcPts val="0"/>
              </a:spcAft>
            </a:pPr>
            <a:r>
              <a:rPr sz="1500" b="0">
                <a:solidFill>
                  <a:srgbClr val="5E7482"/>
                </a:solidFill>
                <a:latin typeface="Calibri"/>
              </a:rPr>
              <a:t>The same sentence is saved under Notices, so it is still there after the banner.</a:t>
            </a:r>
          </a:p>
        </p:txBody>
      </p:sp>
      <p:sp>
        <p:nvSpPr>
          <p:cNvPr id="12" name="TextBox 11"/>
          <p:cNvSpPr txBox="1"/>
          <p:nvPr/>
        </p:nvSpPr>
        <p:spPr>
          <a:xfrm>
            <a:off x="502920" y="4389120"/>
            <a:ext cx="5212080" cy="640080"/>
          </a:xfrm>
          <a:prstGeom prst="rect">
            <a:avLst/>
          </a:prstGeom>
          <a:noFill/>
        </p:spPr>
        <p:txBody>
          <a:bodyPr wrap="square" lIns="0" rIns="0" tIns="0" bIns="0"/>
          <a:lstStyle/>
          <a:p>
            <a:pPr algn="l">
              <a:spcAft>
                <a:spcPts val="0"/>
              </a:spcAft>
            </a:pPr>
            <a:r>
              <a:rPr sz="1500" b="0">
                <a:solidFill>
                  <a:srgbClr val="5E7482"/>
                </a:solidFill>
                <a:latin typeface="Calibri"/>
              </a:rPr>
              <a:t>If the child is far down the list, the list opens far enough to show them.</a:t>
            </a:r>
          </a:p>
        </p:txBody>
      </p:sp>
      <p:sp>
        <p:nvSpPr>
          <p:cNvPr id="13" name="Rounded Rectangle 12"/>
          <p:cNvSpPr/>
          <p:nvPr/>
        </p:nvSpPr>
        <p:spPr>
          <a:xfrm>
            <a:off x="6400800" y="1554480"/>
            <a:ext cx="2880360" cy="4572000"/>
          </a:xfrm>
          <a:prstGeom prst="roundRect">
            <a:avLst>
              <a:gd name="adj" fmla="val 8888"/>
            </a:avLst>
          </a:prstGeom>
          <a:solidFill>
            <a:srgbClr val="FFFFFF">
              <a:alpha val="82000"/>
            </a:srgbClr>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7584948" y="1664208"/>
            <a:ext cx="512064" cy="54864"/>
          </a:xfrm>
          <a:prstGeom prst="roundRect">
            <a:avLst>
              <a:gd name="adj" fmla="val 50000"/>
            </a:avLst>
          </a:prstGeom>
          <a:solidFill>
            <a:srgbClr val="E3EE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547104" y="1847088"/>
            <a:ext cx="2587752" cy="777240"/>
          </a:xfrm>
          <a:prstGeom prst="roundRect">
            <a:avLst>
              <a:gd name="adj" fmla="val 14117"/>
            </a:avLst>
          </a:prstGeom>
          <a:solidFill>
            <a:srgbClr val="C7F7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638544" y="1956816"/>
            <a:ext cx="2404872" cy="566928"/>
          </a:xfrm>
          <a:prstGeom prst="rect">
            <a:avLst/>
          </a:prstGeom>
          <a:noFill/>
        </p:spPr>
        <p:txBody>
          <a:bodyPr wrap="square" lIns="0" rIns="0" tIns="0" bIns="0"/>
          <a:lstStyle/>
          <a:p>
            <a:pPr algn="l">
              <a:spcAft>
                <a:spcPts val="0"/>
              </a:spcAft>
            </a:pPr>
            <a:r>
              <a:rPr sz="1200" b="0">
                <a:solidFill>
                  <a:srgbClr val="092B3C"/>
                </a:solidFill>
                <a:latin typeface="Calibri"/>
              </a:rPr>
              <a:t>Link completed. Aline Uwase is now on your account.</a:t>
            </a:r>
          </a:p>
        </p:txBody>
      </p:sp>
      <p:sp>
        <p:nvSpPr>
          <p:cNvPr id="17" name="Rounded Rectangle 16"/>
          <p:cNvSpPr/>
          <p:nvPr/>
        </p:nvSpPr>
        <p:spPr>
          <a:xfrm>
            <a:off x="6547104" y="2807208"/>
            <a:ext cx="2587752" cy="777240"/>
          </a:xfrm>
          <a:prstGeom prst="roundRect">
            <a:avLst>
              <a:gd name="adj" fmla="val 14117"/>
            </a:avLst>
          </a:prstGeom>
          <a:solidFill>
            <a:srgbClr val="09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656832" y="2907792"/>
            <a:ext cx="2587752" cy="182880"/>
          </a:xfrm>
          <a:prstGeom prst="rect">
            <a:avLst/>
          </a:prstGeom>
          <a:noFill/>
        </p:spPr>
        <p:txBody>
          <a:bodyPr wrap="square" lIns="0" rIns="0" tIns="0" bIns="0"/>
          <a:lstStyle/>
          <a:p>
            <a:pPr algn="l">
              <a:spcAft>
                <a:spcPts val="0"/>
              </a:spcAft>
            </a:pPr>
            <a:r>
              <a:rPr sz="1000" b="1">
                <a:solidFill>
                  <a:srgbClr val="18D6B4"/>
                </a:solidFill>
                <a:latin typeface="Calibri"/>
              </a:rPr>
              <a:t>Fees outstanding</a:t>
            </a:r>
          </a:p>
        </p:txBody>
      </p:sp>
      <p:sp>
        <p:nvSpPr>
          <p:cNvPr id="19" name="TextBox 18"/>
          <p:cNvSpPr txBox="1"/>
          <p:nvPr/>
        </p:nvSpPr>
        <p:spPr>
          <a:xfrm>
            <a:off x="6656832" y="3127248"/>
            <a:ext cx="2587752" cy="292608"/>
          </a:xfrm>
          <a:prstGeom prst="rect">
            <a:avLst/>
          </a:prstGeom>
          <a:noFill/>
        </p:spPr>
        <p:txBody>
          <a:bodyPr wrap="square" lIns="0" rIns="0" tIns="0" bIns="0"/>
          <a:lstStyle/>
          <a:p>
            <a:pPr algn="l">
              <a:spcAft>
                <a:spcPts val="0"/>
              </a:spcAft>
            </a:pPr>
            <a:r>
              <a:rPr sz="1600" b="1">
                <a:solidFill>
                  <a:srgbClr val="FFFFFF"/>
                </a:solidFill>
                <a:latin typeface="Calibri"/>
              </a:rPr>
              <a:t>Updated total</a:t>
            </a:r>
          </a:p>
        </p:txBody>
      </p:sp>
      <p:sp>
        <p:nvSpPr>
          <p:cNvPr id="20" name="TextBox 19"/>
          <p:cNvSpPr txBox="1"/>
          <p:nvPr/>
        </p:nvSpPr>
        <p:spPr>
          <a:xfrm>
            <a:off x="6547104" y="3767328"/>
            <a:ext cx="2587752" cy="201168"/>
          </a:xfrm>
          <a:prstGeom prst="rect">
            <a:avLst/>
          </a:prstGeom>
          <a:noFill/>
        </p:spPr>
        <p:txBody>
          <a:bodyPr wrap="square" lIns="0" rIns="0" tIns="0" bIns="0"/>
          <a:lstStyle/>
          <a:p>
            <a:pPr algn="l">
              <a:spcAft>
                <a:spcPts val="0"/>
              </a:spcAft>
            </a:pPr>
            <a:r>
              <a:rPr sz="1000" b="1">
                <a:solidFill>
                  <a:srgbClr val="5E7482"/>
                </a:solidFill>
                <a:latin typeface="Calibri"/>
              </a:rPr>
              <a:t>ACCOUNTS</a:t>
            </a:r>
          </a:p>
        </p:txBody>
      </p:sp>
      <p:sp>
        <p:nvSpPr>
          <p:cNvPr id="21" name="Rounded Rectangle 20"/>
          <p:cNvSpPr/>
          <p:nvPr/>
        </p:nvSpPr>
        <p:spPr>
          <a:xfrm>
            <a:off x="6547104" y="4041648"/>
            <a:ext cx="2587752" cy="566928"/>
          </a:xfrm>
          <a:prstGeom prst="roundRect">
            <a:avLst>
              <a:gd name="adj" fmla="val 16129"/>
            </a:avLst>
          </a:prstGeom>
          <a:solidFill>
            <a:srgbClr val="C7F7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56832" y="4114800"/>
            <a:ext cx="2404872" cy="201168"/>
          </a:xfrm>
          <a:prstGeom prst="rect">
            <a:avLst/>
          </a:prstGeom>
          <a:noFill/>
        </p:spPr>
        <p:txBody>
          <a:bodyPr wrap="square" lIns="0" rIns="0" tIns="0" bIns="0"/>
          <a:lstStyle/>
          <a:p>
            <a:pPr algn="l">
              <a:spcAft>
                <a:spcPts val="0"/>
              </a:spcAft>
            </a:pPr>
            <a:r>
              <a:rPr sz="1300" b="1">
                <a:solidFill>
                  <a:srgbClr val="092B3C"/>
                </a:solidFill>
                <a:latin typeface="Calibri"/>
              </a:rPr>
              <a:t>Aline Uwase</a:t>
            </a:r>
          </a:p>
        </p:txBody>
      </p:sp>
      <p:sp>
        <p:nvSpPr>
          <p:cNvPr id="23" name="TextBox 22"/>
          <p:cNvSpPr txBox="1"/>
          <p:nvPr/>
        </p:nvSpPr>
        <p:spPr>
          <a:xfrm>
            <a:off x="6656832" y="4315968"/>
            <a:ext cx="2404872" cy="182880"/>
          </a:xfrm>
          <a:prstGeom prst="rect">
            <a:avLst/>
          </a:prstGeom>
          <a:noFill/>
        </p:spPr>
        <p:txBody>
          <a:bodyPr wrap="square" lIns="0" rIns="0" tIns="0" bIns="0"/>
          <a:lstStyle/>
          <a:p>
            <a:pPr algn="l">
              <a:spcAft>
                <a:spcPts val="0"/>
              </a:spcAft>
            </a:pPr>
            <a:r>
              <a:rPr sz="1100" b="0">
                <a:solidFill>
                  <a:srgbClr val="5E7482"/>
                </a:solidFill>
                <a:latin typeface="Calibri"/>
              </a:rPr>
              <a:t>Just linked</a:t>
            </a:r>
          </a:p>
        </p:txBody>
      </p:sp>
      <p:sp>
        <p:nvSpPr>
          <p:cNvPr id="24" name="Rounded Rectangle 23"/>
          <p:cNvSpPr/>
          <p:nvPr/>
        </p:nvSpPr>
        <p:spPr>
          <a:xfrm>
            <a:off x="6547104" y="4700016"/>
            <a:ext cx="2587752" cy="502920"/>
          </a:xfrm>
          <a:prstGeom prst="roundRect">
            <a:avLst>
              <a:gd name="adj" fmla="val 18181"/>
            </a:avLst>
          </a:prstGeom>
          <a:solidFill>
            <a:srgbClr val="FFFFFF">
              <a:alpha val="90000"/>
            </a:srgbClr>
          </a:solidFill>
          <a:ln w="9525">
            <a:solidFill>
              <a:srgbClr val="E3EE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656832" y="4809744"/>
            <a:ext cx="2404872" cy="274320"/>
          </a:xfrm>
          <a:prstGeom prst="rect">
            <a:avLst/>
          </a:prstGeom>
          <a:noFill/>
        </p:spPr>
        <p:txBody>
          <a:bodyPr wrap="square" lIns="0" rIns="0" tIns="0" bIns="0"/>
          <a:lstStyle/>
          <a:p>
            <a:pPr algn="l">
              <a:spcAft>
                <a:spcPts val="0"/>
              </a:spcAft>
            </a:pPr>
            <a:r>
              <a:rPr sz="1300" b="1">
                <a:solidFill>
                  <a:srgbClr val="092B3C"/>
                </a:solidFill>
                <a:latin typeface="Calibri"/>
              </a:rPr>
              <a:t>Eric Niyonzima</a:t>
            </a:r>
          </a:p>
        </p:txBody>
      </p:sp>
      <p:sp>
        <p:nvSpPr>
          <p:cNvPr id="26" name="TextBox 25"/>
          <p:cNvSpPr txBox="1"/>
          <p:nvPr/>
        </p:nvSpPr>
        <p:spPr>
          <a:xfrm>
            <a:off x="502920" y="6473952"/>
            <a:ext cx="7315200" cy="256032"/>
          </a:xfrm>
          <a:prstGeom prst="rect">
            <a:avLst/>
          </a:prstGeom>
          <a:noFill/>
        </p:spPr>
        <p:txBody>
          <a:bodyPr wrap="square" lIns="0" rIns="0" tIns="0" bIns="0"/>
          <a:lstStyle/>
          <a:p>
            <a:pPr algn="l">
              <a:spcAft>
                <a:spcPts val="0"/>
              </a:spcAft>
            </a:pPr>
            <a:r>
              <a:rPr sz="1100" b="0">
                <a:solidFill>
                  <a:srgbClr val="5E7482"/>
                </a:solidFill>
                <a:latin typeface="Calibri"/>
              </a:rPr>
              <a:t>RUPSA NEXT   ·   Parent &amp; Guardian mobile</a:t>
            </a:r>
          </a:p>
        </p:txBody>
      </p:sp>
      <p:sp>
        <p:nvSpPr>
          <p:cNvPr id="27" name="TextBox 26"/>
          <p:cNvSpPr txBox="1"/>
          <p:nvPr/>
        </p:nvSpPr>
        <p:spPr>
          <a:xfrm>
            <a:off x="10241280" y="6473952"/>
            <a:ext cx="1417320" cy="256032"/>
          </a:xfrm>
          <a:prstGeom prst="rect">
            <a:avLst/>
          </a:prstGeom>
          <a:noFill/>
        </p:spPr>
        <p:txBody>
          <a:bodyPr wrap="square" lIns="0" rIns="0" tIns="0" bIns="0"/>
          <a:lstStyle/>
          <a:p>
            <a:pPr algn="r">
              <a:spcAft>
                <a:spcPts val="0"/>
              </a:spcAft>
            </a:pPr>
            <a:r>
              <a:rPr sz="1100" b="0">
                <a:solidFill>
                  <a:srgbClr val="5E7482"/>
                </a:solidFill>
                <a:latin typeface="Calibri"/>
              </a:rPr>
              <a:t>9  /  12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595360" y="-1463040"/>
            <a:ext cx="4754880" cy="4754880"/>
          </a:xfrm>
          <a:prstGeom prst="ellipse">
            <a:avLst/>
          </a:prstGeom>
          <a:solidFill>
            <a:srgbClr val="18D6B4">
              <a:alpha val="2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45920" y="4206240"/>
            <a:ext cx="4206240" cy="4206240"/>
          </a:xfrm>
          <a:prstGeom prst="ellipse">
            <a:avLst/>
          </a:prstGeom>
          <a:solidFill>
            <a:srgbClr val="092B3C">
              <a:alpha val="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292608"/>
            <a:ext cx="7772400" cy="256032"/>
          </a:xfrm>
          <a:prstGeom prst="rect">
            <a:avLst/>
          </a:prstGeom>
          <a:noFill/>
        </p:spPr>
        <p:txBody>
          <a:bodyPr wrap="square" lIns="0" rIns="0" tIns="0" bIns="0"/>
          <a:lstStyle/>
          <a:p>
            <a:pPr algn="l">
              <a:spcAft>
                <a:spcPts val="0"/>
              </a:spcAft>
            </a:pPr>
            <a:r>
              <a:rPr sz="1200" b="1">
                <a:solidFill>
                  <a:srgbClr val="18D6B4"/>
                </a:solidFill>
                <a:latin typeface="Calibri"/>
              </a:rPr>
              <a:t>FEES AND HISTORY</a:t>
            </a:r>
          </a:p>
        </p:txBody>
      </p:sp>
      <p:sp>
        <p:nvSpPr>
          <p:cNvPr id="6" name="TextBox 5"/>
          <p:cNvSpPr txBox="1"/>
          <p:nvPr/>
        </p:nvSpPr>
        <p:spPr>
          <a:xfrm>
            <a:off x="502920" y="530352"/>
            <a:ext cx="8046720" cy="502920"/>
          </a:xfrm>
          <a:prstGeom prst="rect">
            <a:avLst/>
          </a:prstGeom>
          <a:noFill/>
        </p:spPr>
        <p:txBody>
          <a:bodyPr wrap="square" lIns="0" rIns="0" tIns="0" bIns="0"/>
          <a:lstStyle/>
          <a:p>
            <a:pPr algn="l">
              <a:spcAft>
                <a:spcPts val="0"/>
              </a:spcAft>
            </a:pPr>
            <a:r>
              <a:rPr sz="3000" b="1">
                <a:solidFill>
                  <a:srgbClr val="092B3C"/>
                </a:solidFill>
                <a:latin typeface="Calibri"/>
              </a:rPr>
              <a:t>Outstanding fees, payments, and receipts</a:t>
            </a:r>
          </a:p>
        </p:txBody>
      </p:sp>
      <p:sp>
        <p:nvSpPr>
          <p:cNvPr id="7" name="TextBox 6"/>
          <p:cNvSpPr txBox="1"/>
          <p:nvPr/>
        </p:nvSpPr>
        <p:spPr>
          <a:xfrm>
            <a:off x="502920" y="1078992"/>
            <a:ext cx="7863840" cy="640080"/>
          </a:xfrm>
          <a:prstGeom prst="rect">
            <a:avLst/>
          </a:prstGeom>
          <a:noFill/>
        </p:spPr>
        <p:txBody>
          <a:bodyPr wrap="square" lIns="0" rIns="0" tIns="0" bIns="0"/>
          <a:lstStyle/>
          <a:p>
            <a:pPr algn="l">
              <a:spcAft>
                <a:spcPts val="0"/>
              </a:spcAft>
            </a:pPr>
            <a:r>
              <a:rPr sz="1500" b="0">
                <a:solidFill>
                  <a:srgbClr val="5E7482"/>
                </a:solidFill>
                <a:latin typeface="Calibri"/>
              </a:rPr>
              <a:t>Home is the balance. Activity is the history. Paying still uses an approved rail.</a:t>
            </a:r>
          </a:p>
        </p:txBody>
      </p:sp>
      <p:sp>
        <p:nvSpPr>
          <p:cNvPr id="8" name="Rounded Rectangle 7"/>
          <p:cNvSpPr/>
          <p:nvPr/>
        </p:nvSpPr>
        <p:spPr>
          <a:xfrm>
            <a:off x="502920" y="1965960"/>
            <a:ext cx="5532120" cy="1783080"/>
          </a:xfrm>
          <a:prstGeom prst="roundRect">
            <a:avLst>
              <a:gd name="adj" fmla="val 8205"/>
            </a:avLst>
          </a:prstGeom>
          <a:solidFill>
            <a:srgbClr val="FFFFFF">
              <a:alpha val="78000"/>
            </a:srgbClr>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04088" y="2112264"/>
            <a:ext cx="5166360" cy="329184"/>
          </a:xfrm>
          <a:prstGeom prst="rect">
            <a:avLst/>
          </a:prstGeom>
          <a:noFill/>
        </p:spPr>
        <p:txBody>
          <a:bodyPr wrap="square" lIns="0" rIns="0" tIns="0" bIns="0"/>
          <a:lstStyle/>
          <a:p>
            <a:pPr algn="l">
              <a:spcAft>
                <a:spcPts val="0"/>
              </a:spcAft>
            </a:pPr>
            <a:r>
              <a:rPr sz="1600" b="1">
                <a:solidFill>
                  <a:srgbClr val="092B3C"/>
                </a:solidFill>
                <a:latin typeface="Calibri"/>
              </a:rPr>
              <a:t>Home</a:t>
            </a:r>
          </a:p>
        </p:txBody>
      </p:sp>
      <p:sp>
        <p:nvSpPr>
          <p:cNvPr id="10" name="TextBox 9"/>
          <p:cNvSpPr txBox="1"/>
          <p:nvPr/>
        </p:nvSpPr>
        <p:spPr>
          <a:xfrm>
            <a:off x="704088" y="2441448"/>
            <a:ext cx="5166360" cy="1179576"/>
          </a:xfrm>
          <a:prstGeom prst="rect">
            <a:avLst/>
          </a:prstGeom>
          <a:noFill/>
        </p:spPr>
        <p:txBody>
          <a:bodyPr wrap="square" lIns="0" rIns="0" tIns="0" bIns="0"/>
          <a:lstStyle/>
          <a:p>
            <a:pPr algn="l">
              <a:spcAft>
                <a:spcPts val="200"/>
              </a:spcAft>
            </a:pPr>
            <a:r>
              <a:rPr sz="1300" b="0">
                <a:solidFill>
                  <a:srgbClr val="5E7482"/>
                </a:solidFill>
                <a:latin typeface="Calibri"/>
              </a:rPr>
              <a:t>Fees outstanding for every linked child, then each child as an account. Pay on a child opens that child’s open invoice.</a:t>
            </a:r>
          </a:p>
        </p:txBody>
      </p:sp>
      <p:sp>
        <p:nvSpPr>
          <p:cNvPr id="11" name="Rounded Rectangle 10"/>
          <p:cNvSpPr/>
          <p:nvPr/>
        </p:nvSpPr>
        <p:spPr>
          <a:xfrm>
            <a:off x="6263640" y="1965960"/>
            <a:ext cx="5532120" cy="1783080"/>
          </a:xfrm>
          <a:prstGeom prst="roundRect">
            <a:avLst>
              <a:gd name="adj" fmla="val 8205"/>
            </a:avLst>
          </a:prstGeom>
          <a:solidFill>
            <a:srgbClr val="FFFFFF">
              <a:alpha val="78000"/>
            </a:srgbClr>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64808" y="2112264"/>
            <a:ext cx="5166360" cy="329184"/>
          </a:xfrm>
          <a:prstGeom prst="rect">
            <a:avLst/>
          </a:prstGeom>
          <a:noFill/>
        </p:spPr>
        <p:txBody>
          <a:bodyPr wrap="square" lIns="0" rIns="0" tIns="0" bIns="0"/>
          <a:lstStyle/>
          <a:p>
            <a:pPr algn="l">
              <a:spcAft>
                <a:spcPts val="0"/>
              </a:spcAft>
            </a:pPr>
            <a:r>
              <a:rPr sz="1600" b="1">
                <a:solidFill>
                  <a:srgbClr val="092B3C"/>
                </a:solidFill>
                <a:latin typeface="Calibri"/>
              </a:rPr>
              <a:t>Activity</a:t>
            </a:r>
          </a:p>
        </p:txBody>
      </p:sp>
      <p:sp>
        <p:nvSpPr>
          <p:cNvPr id="13" name="TextBox 12"/>
          <p:cNvSpPr txBox="1"/>
          <p:nvPr/>
        </p:nvSpPr>
        <p:spPr>
          <a:xfrm>
            <a:off x="6464808" y="2441448"/>
            <a:ext cx="5166360" cy="1179576"/>
          </a:xfrm>
          <a:prstGeom prst="rect">
            <a:avLst/>
          </a:prstGeom>
          <a:noFill/>
        </p:spPr>
        <p:txBody>
          <a:bodyPr wrap="square" lIns="0" rIns="0" tIns="0" bIns="0"/>
          <a:lstStyle/>
          <a:p>
            <a:pPr algn="l">
              <a:spcAft>
                <a:spcPts val="200"/>
              </a:spcAft>
            </a:pPr>
            <a:r>
              <a:rPr sz="1300" b="0">
                <a:solidFill>
                  <a:srgbClr val="5E7482"/>
                </a:solidFill>
                <a:latin typeface="Calibri"/>
              </a:rPr>
              <a:t>A switch between receipts and payments. A payment row shows the flow code, the rail, and the corridor.</a:t>
            </a:r>
          </a:p>
        </p:txBody>
      </p:sp>
      <p:sp>
        <p:nvSpPr>
          <p:cNvPr id="14" name="Rounded Rectangle 13"/>
          <p:cNvSpPr/>
          <p:nvPr/>
        </p:nvSpPr>
        <p:spPr>
          <a:xfrm>
            <a:off x="502920" y="3931920"/>
            <a:ext cx="5532120" cy="1783080"/>
          </a:xfrm>
          <a:prstGeom prst="roundRect">
            <a:avLst>
              <a:gd name="adj" fmla="val 8205"/>
            </a:avLst>
          </a:prstGeom>
          <a:solidFill>
            <a:srgbClr val="FFFFFF">
              <a:alpha val="78000"/>
            </a:srgbClr>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04088" y="4078224"/>
            <a:ext cx="5166360" cy="329184"/>
          </a:xfrm>
          <a:prstGeom prst="rect">
            <a:avLst/>
          </a:prstGeom>
          <a:noFill/>
        </p:spPr>
        <p:txBody>
          <a:bodyPr wrap="square" lIns="0" rIns="0" tIns="0" bIns="0"/>
          <a:lstStyle/>
          <a:p>
            <a:pPr algn="l">
              <a:spcAft>
                <a:spcPts val="0"/>
              </a:spcAft>
            </a:pPr>
            <a:r>
              <a:rPr sz="1600" b="1">
                <a:solidFill>
                  <a:srgbClr val="092B3C"/>
                </a:solidFill>
                <a:latin typeface="Calibri"/>
              </a:rPr>
              <a:t>Rails</a:t>
            </a:r>
          </a:p>
        </p:txBody>
      </p:sp>
      <p:sp>
        <p:nvSpPr>
          <p:cNvPr id="16" name="TextBox 15"/>
          <p:cNvSpPr txBox="1"/>
          <p:nvPr/>
        </p:nvSpPr>
        <p:spPr>
          <a:xfrm>
            <a:off x="704088" y="4407408"/>
            <a:ext cx="5166360" cy="1179576"/>
          </a:xfrm>
          <a:prstGeom prst="rect">
            <a:avLst/>
          </a:prstGeom>
          <a:noFill/>
        </p:spPr>
        <p:txBody>
          <a:bodyPr wrap="square" lIns="0" rIns="0" tIns="0" bIns="0"/>
          <a:lstStyle/>
          <a:p>
            <a:pPr algn="l">
              <a:spcAft>
                <a:spcPts val="200"/>
              </a:spcAft>
            </a:pPr>
            <a:r>
              <a:rPr sz="1300" b="0">
                <a:solidFill>
                  <a:srgbClr val="5E7482"/>
                </a:solidFill>
                <a:latin typeface="Calibri"/>
              </a:rPr>
              <a:t>The parent can pay by mobile money, bank, card, or a payment service, from Rwanda or the live Tanzania pilot.</a:t>
            </a:r>
          </a:p>
        </p:txBody>
      </p:sp>
      <p:sp>
        <p:nvSpPr>
          <p:cNvPr id="17" name="Rounded Rectangle 16"/>
          <p:cNvSpPr/>
          <p:nvPr/>
        </p:nvSpPr>
        <p:spPr>
          <a:xfrm>
            <a:off x="6263640" y="3931920"/>
            <a:ext cx="5532120" cy="1783080"/>
          </a:xfrm>
          <a:prstGeom prst="roundRect">
            <a:avLst>
              <a:gd name="adj" fmla="val 8205"/>
            </a:avLst>
          </a:prstGeom>
          <a:solidFill>
            <a:srgbClr val="FFFFFF">
              <a:alpha val="78000"/>
            </a:srgbClr>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64808" y="4078224"/>
            <a:ext cx="5166360" cy="329184"/>
          </a:xfrm>
          <a:prstGeom prst="rect">
            <a:avLst/>
          </a:prstGeom>
          <a:noFill/>
        </p:spPr>
        <p:txBody>
          <a:bodyPr wrap="square" lIns="0" rIns="0" tIns="0" bIns="0"/>
          <a:lstStyle/>
          <a:p>
            <a:pPr algn="l">
              <a:spcAft>
                <a:spcPts val="0"/>
              </a:spcAft>
            </a:pPr>
            <a:r>
              <a:rPr sz="1600" b="1">
                <a:solidFill>
                  <a:srgbClr val="092B3C"/>
                </a:solidFill>
                <a:latin typeface="Calibri"/>
              </a:rPr>
              <a:t>Not here</a:t>
            </a:r>
          </a:p>
        </p:txBody>
      </p:sp>
      <p:sp>
        <p:nvSpPr>
          <p:cNvPr id="19" name="TextBox 18"/>
          <p:cNvSpPr txBox="1"/>
          <p:nvPr/>
        </p:nvSpPr>
        <p:spPr>
          <a:xfrm>
            <a:off x="6464808" y="4407408"/>
            <a:ext cx="5166360" cy="1179576"/>
          </a:xfrm>
          <a:prstGeom prst="rect">
            <a:avLst/>
          </a:prstGeom>
          <a:noFill/>
        </p:spPr>
        <p:txBody>
          <a:bodyPr wrap="square" lIns="0" rIns="0" tIns="0" bIns="0"/>
          <a:lstStyle/>
          <a:p>
            <a:pPr algn="l">
              <a:spcAft>
                <a:spcPts val="200"/>
              </a:spcAft>
            </a:pPr>
            <a:r>
              <a:rPr sz="1300" b="0">
                <a:solidFill>
                  <a:srgbClr val="5E7482"/>
                </a:solidFill>
                <a:latin typeface="Calibri"/>
              </a:rPr>
              <a:t>Refunds, reversals, and the full rail catalog stay on the operator workspace. A planned corridor is refused before any money moves.</a:t>
            </a:r>
          </a:p>
        </p:txBody>
      </p:sp>
      <p:sp>
        <p:nvSpPr>
          <p:cNvPr id="20" name="TextBox 19"/>
          <p:cNvSpPr txBox="1"/>
          <p:nvPr/>
        </p:nvSpPr>
        <p:spPr>
          <a:xfrm>
            <a:off x="502920" y="6473952"/>
            <a:ext cx="7315200" cy="256032"/>
          </a:xfrm>
          <a:prstGeom prst="rect">
            <a:avLst/>
          </a:prstGeom>
          <a:noFill/>
        </p:spPr>
        <p:txBody>
          <a:bodyPr wrap="square" lIns="0" rIns="0" tIns="0" bIns="0"/>
          <a:lstStyle/>
          <a:p>
            <a:pPr algn="l">
              <a:spcAft>
                <a:spcPts val="0"/>
              </a:spcAft>
            </a:pPr>
            <a:r>
              <a:rPr sz="1100" b="0">
                <a:solidFill>
                  <a:srgbClr val="5E7482"/>
                </a:solidFill>
                <a:latin typeface="Calibri"/>
              </a:rPr>
              <a:t>RUPSA NEXT   ·   Parent &amp; Guardian mobile</a:t>
            </a:r>
          </a:p>
        </p:txBody>
      </p:sp>
      <p:sp>
        <p:nvSpPr>
          <p:cNvPr id="21" name="TextBox 20"/>
          <p:cNvSpPr txBox="1"/>
          <p:nvPr/>
        </p:nvSpPr>
        <p:spPr>
          <a:xfrm>
            <a:off x="10241280" y="6473952"/>
            <a:ext cx="1417320" cy="256032"/>
          </a:xfrm>
          <a:prstGeom prst="rect">
            <a:avLst/>
          </a:prstGeom>
          <a:noFill/>
        </p:spPr>
        <p:txBody>
          <a:bodyPr wrap="square" lIns="0" rIns="0" tIns="0" bIns="0"/>
          <a:lstStyle/>
          <a:p>
            <a:pPr algn="r">
              <a:spcAft>
                <a:spcPts val="0"/>
              </a:spcAft>
            </a:pPr>
            <a:r>
              <a:rPr sz="1100" b="0">
                <a:solidFill>
                  <a:srgbClr val="5E7482"/>
                </a:solidFill>
                <a:latin typeface="Calibri"/>
              </a:rPr>
              <a:t>10  /  12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595360" y="-1463040"/>
            <a:ext cx="4754880" cy="4754880"/>
          </a:xfrm>
          <a:prstGeom prst="ellipse">
            <a:avLst/>
          </a:prstGeom>
          <a:solidFill>
            <a:srgbClr val="18D6B4">
              <a:alpha val="2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45920" y="4206240"/>
            <a:ext cx="4206240" cy="4206240"/>
          </a:xfrm>
          <a:prstGeom prst="ellipse">
            <a:avLst/>
          </a:prstGeom>
          <a:solidFill>
            <a:srgbClr val="092B3C">
              <a:alpha val="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292608"/>
            <a:ext cx="7772400" cy="256032"/>
          </a:xfrm>
          <a:prstGeom prst="rect">
            <a:avLst/>
          </a:prstGeom>
          <a:noFill/>
        </p:spPr>
        <p:txBody>
          <a:bodyPr wrap="square" lIns="0" rIns="0" tIns="0" bIns="0"/>
          <a:lstStyle/>
          <a:p>
            <a:pPr algn="l">
              <a:spcAft>
                <a:spcPts val="0"/>
              </a:spcAft>
            </a:pPr>
            <a:r>
              <a:rPr sz="1200" b="1">
                <a:solidFill>
                  <a:srgbClr val="18D6B4"/>
                </a:solidFill>
                <a:latin typeface="Calibri"/>
              </a:rPr>
              <a:t>NOTICES</a:t>
            </a:r>
          </a:p>
        </p:txBody>
      </p:sp>
      <p:sp>
        <p:nvSpPr>
          <p:cNvPr id="6" name="TextBox 5"/>
          <p:cNvSpPr txBox="1"/>
          <p:nvPr/>
        </p:nvSpPr>
        <p:spPr>
          <a:xfrm>
            <a:off x="502920" y="530352"/>
            <a:ext cx="8046720" cy="502920"/>
          </a:xfrm>
          <a:prstGeom prst="rect">
            <a:avLst/>
          </a:prstGeom>
          <a:noFill/>
        </p:spPr>
        <p:txBody>
          <a:bodyPr wrap="square" lIns="0" rIns="0" tIns="0" bIns="0"/>
          <a:lstStyle/>
          <a:p>
            <a:pPr algn="l">
              <a:spcAft>
                <a:spcPts val="0"/>
              </a:spcAft>
            </a:pPr>
            <a:r>
              <a:rPr sz="3000" b="1">
                <a:solidFill>
                  <a:srgbClr val="092B3C"/>
                </a:solidFill>
                <a:latin typeface="Calibri"/>
              </a:rPr>
              <a:t>An unread badge, updated while Home stays open</a:t>
            </a:r>
          </a:p>
        </p:txBody>
      </p:sp>
      <p:sp>
        <p:nvSpPr>
          <p:cNvPr id="7" name="TextBox 6"/>
          <p:cNvSpPr txBox="1"/>
          <p:nvPr/>
        </p:nvSpPr>
        <p:spPr>
          <a:xfrm>
            <a:off x="502920" y="1078992"/>
            <a:ext cx="7863840" cy="640080"/>
          </a:xfrm>
          <a:prstGeom prst="rect">
            <a:avLst/>
          </a:prstGeom>
          <a:noFill/>
        </p:spPr>
        <p:txBody>
          <a:bodyPr wrap="square" lIns="0" rIns="0" tIns="0" bIns="0"/>
          <a:lstStyle/>
          <a:p>
            <a:pPr algn="l">
              <a:spcAft>
                <a:spcPts val="0"/>
              </a:spcAft>
            </a:pPr>
            <a:r>
              <a:rPr sz="1500" b="0">
                <a:solidFill>
                  <a:srgbClr val="5E7482"/>
                </a:solidFill>
                <a:latin typeface="Calibri"/>
              </a:rPr>
              <a:t>The bell counts notices the parent has not opened. A new one changes that count without a refresh.</a:t>
            </a:r>
          </a:p>
        </p:txBody>
      </p:sp>
      <p:sp>
        <p:nvSpPr>
          <p:cNvPr id="8" name="Rounded Rectangle 7"/>
          <p:cNvSpPr/>
          <p:nvPr/>
        </p:nvSpPr>
        <p:spPr>
          <a:xfrm>
            <a:off x="502920" y="1920240"/>
            <a:ext cx="7452360" cy="896112"/>
          </a:xfrm>
          <a:prstGeom prst="roundRect">
            <a:avLst>
              <a:gd name="adj" fmla="val 14285"/>
            </a:avLst>
          </a:prstGeom>
          <a:solidFill>
            <a:srgbClr val="FFFFFF">
              <a:alpha val="80000"/>
            </a:srgbClr>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2048256"/>
            <a:ext cx="1371600" cy="640080"/>
          </a:xfrm>
          <a:prstGeom prst="rect">
            <a:avLst/>
          </a:prstGeom>
          <a:noFill/>
        </p:spPr>
        <p:txBody>
          <a:bodyPr wrap="square" lIns="0" rIns="0" tIns="0" bIns="0"/>
          <a:lstStyle/>
          <a:p>
            <a:pPr algn="l">
              <a:spcAft>
                <a:spcPts val="0"/>
              </a:spcAft>
            </a:pPr>
            <a:r>
              <a:rPr sz="1600" b="1">
                <a:solidFill>
                  <a:srgbClr val="092B3C"/>
                </a:solidFill>
                <a:latin typeface="Calibri"/>
              </a:rPr>
              <a:t>Badge</a:t>
            </a:r>
          </a:p>
        </p:txBody>
      </p:sp>
      <p:sp>
        <p:nvSpPr>
          <p:cNvPr id="10" name="TextBox 9"/>
          <p:cNvSpPr txBox="1"/>
          <p:nvPr/>
        </p:nvSpPr>
        <p:spPr>
          <a:xfrm>
            <a:off x="2194560" y="2048256"/>
            <a:ext cx="5486400" cy="640080"/>
          </a:xfrm>
          <a:prstGeom prst="rect">
            <a:avLst/>
          </a:prstGeom>
          <a:noFill/>
        </p:spPr>
        <p:txBody>
          <a:bodyPr wrap="square" lIns="0" rIns="0" tIns="0" bIns="0"/>
          <a:lstStyle/>
          <a:p>
            <a:pPr algn="l">
              <a:spcAft>
                <a:spcPts val="0"/>
              </a:spcAft>
            </a:pPr>
            <a:r>
              <a:rPr sz="1400" b="0">
                <a:solidFill>
                  <a:srgbClr val="5E7482"/>
                </a:solidFill>
                <a:latin typeface="Calibri"/>
              </a:rPr>
              <a:t>The bell on Home shows the unread count. No unread notices, and the number is gone.</a:t>
            </a:r>
          </a:p>
        </p:txBody>
      </p:sp>
      <p:sp>
        <p:nvSpPr>
          <p:cNvPr id="11" name="Rounded Rectangle 10"/>
          <p:cNvSpPr/>
          <p:nvPr/>
        </p:nvSpPr>
        <p:spPr>
          <a:xfrm>
            <a:off x="502920" y="2926080"/>
            <a:ext cx="7452360" cy="896112"/>
          </a:xfrm>
          <a:prstGeom prst="roundRect">
            <a:avLst>
              <a:gd name="adj" fmla="val 14285"/>
            </a:avLst>
          </a:prstGeom>
          <a:solidFill>
            <a:srgbClr val="FFFFFF">
              <a:alpha val="80000"/>
            </a:srgbClr>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3054096"/>
            <a:ext cx="1371600" cy="640080"/>
          </a:xfrm>
          <a:prstGeom prst="rect">
            <a:avLst/>
          </a:prstGeom>
          <a:noFill/>
        </p:spPr>
        <p:txBody>
          <a:bodyPr wrap="square" lIns="0" rIns="0" tIns="0" bIns="0"/>
          <a:lstStyle/>
          <a:p>
            <a:pPr algn="l">
              <a:spcAft>
                <a:spcPts val="0"/>
              </a:spcAft>
            </a:pPr>
            <a:r>
              <a:rPr sz="1600" b="1">
                <a:solidFill>
                  <a:srgbClr val="092B3C"/>
                </a:solidFill>
                <a:latin typeface="Calibri"/>
              </a:rPr>
              <a:t>The list</a:t>
            </a:r>
          </a:p>
        </p:txBody>
      </p:sp>
      <p:sp>
        <p:nvSpPr>
          <p:cNvPr id="13" name="TextBox 12"/>
          <p:cNvSpPr txBox="1"/>
          <p:nvPr/>
        </p:nvSpPr>
        <p:spPr>
          <a:xfrm>
            <a:off x="2194560" y="3054096"/>
            <a:ext cx="5486400" cy="640080"/>
          </a:xfrm>
          <a:prstGeom prst="rect">
            <a:avLst/>
          </a:prstGeom>
          <a:noFill/>
        </p:spPr>
        <p:txBody>
          <a:bodyPr wrap="square" lIns="0" rIns="0" tIns="0" bIns="0"/>
          <a:lstStyle/>
          <a:p>
            <a:pPr algn="l">
              <a:spcAft>
                <a:spcPts val="0"/>
              </a:spcAft>
            </a:pPr>
            <a:r>
              <a:rPr sz="1400" b="0">
                <a:solidFill>
                  <a:srgbClr val="5E7482"/>
                </a:solidFill>
                <a:latin typeface="Calibri"/>
              </a:rPr>
              <a:t>Unread rows wear an aqua dot. Opening Notices marks them read, and the badge clears.</a:t>
            </a:r>
          </a:p>
        </p:txBody>
      </p:sp>
      <p:sp>
        <p:nvSpPr>
          <p:cNvPr id="14" name="Rounded Rectangle 13"/>
          <p:cNvSpPr/>
          <p:nvPr/>
        </p:nvSpPr>
        <p:spPr>
          <a:xfrm>
            <a:off x="502920" y="3931920"/>
            <a:ext cx="7452360" cy="896112"/>
          </a:xfrm>
          <a:prstGeom prst="roundRect">
            <a:avLst>
              <a:gd name="adj" fmla="val 14285"/>
            </a:avLst>
          </a:prstGeom>
          <a:solidFill>
            <a:srgbClr val="FFFFFF">
              <a:alpha val="80000"/>
            </a:srgbClr>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4059936"/>
            <a:ext cx="1371600" cy="640080"/>
          </a:xfrm>
          <a:prstGeom prst="rect">
            <a:avLst/>
          </a:prstGeom>
          <a:noFill/>
        </p:spPr>
        <p:txBody>
          <a:bodyPr wrap="square" lIns="0" rIns="0" tIns="0" bIns="0"/>
          <a:lstStyle/>
          <a:p>
            <a:pPr algn="l">
              <a:spcAft>
                <a:spcPts val="0"/>
              </a:spcAft>
            </a:pPr>
            <a:r>
              <a:rPr sz="1600" b="1">
                <a:solidFill>
                  <a:srgbClr val="092B3C"/>
                </a:solidFill>
                <a:latin typeface="Calibri"/>
              </a:rPr>
              <a:t>Live</a:t>
            </a:r>
          </a:p>
        </p:txBody>
      </p:sp>
      <p:sp>
        <p:nvSpPr>
          <p:cNvPr id="16" name="TextBox 15"/>
          <p:cNvSpPr txBox="1"/>
          <p:nvPr/>
        </p:nvSpPr>
        <p:spPr>
          <a:xfrm>
            <a:off x="2194560" y="4059936"/>
            <a:ext cx="5486400" cy="640080"/>
          </a:xfrm>
          <a:prstGeom prst="rect">
            <a:avLst/>
          </a:prstGeom>
          <a:noFill/>
        </p:spPr>
        <p:txBody>
          <a:bodyPr wrap="square" lIns="0" rIns="0" tIns="0" bIns="0"/>
          <a:lstStyle/>
          <a:p>
            <a:pPr algn="l">
              <a:spcAft>
                <a:spcPts val="0"/>
              </a:spcAft>
            </a:pPr>
            <a:r>
              <a:rPr sz="1400" b="0">
                <a:solidFill>
                  <a:srgbClr val="5E7482"/>
                </a:solidFill>
                <a:latin typeface="Calibri"/>
              </a:rPr>
              <a:t>A completed link or a received payment appears on Home while that screen is already open.</a:t>
            </a:r>
          </a:p>
        </p:txBody>
      </p:sp>
      <p:sp>
        <p:nvSpPr>
          <p:cNvPr id="17" name="Rounded Rectangle 16"/>
          <p:cNvSpPr/>
          <p:nvPr/>
        </p:nvSpPr>
        <p:spPr>
          <a:xfrm>
            <a:off x="502920" y="4937760"/>
            <a:ext cx="7452360" cy="896112"/>
          </a:xfrm>
          <a:prstGeom prst="roundRect">
            <a:avLst>
              <a:gd name="adj" fmla="val 14285"/>
            </a:avLst>
          </a:prstGeom>
          <a:solidFill>
            <a:srgbClr val="FFFFFF">
              <a:alpha val="80000"/>
            </a:srgbClr>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 y="5065776"/>
            <a:ext cx="1371600" cy="640080"/>
          </a:xfrm>
          <a:prstGeom prst="rect">
            <a:avLst/>
          </a:prstGeom>
          <a:noFill/>
        </p:spPr>
        <p:txBody>
          <a:bodyPr wrap="square" lIns="0" rIns="0" tIns="0" bIns="0"/>
          <a:lstStyle/>
          <a:p>
            <a:pPr algn="l">
              <a:spcAft>
                <a:spcPts val="0"/>
              </a:spcAft>
            </a:pPr>
            <a:r>
              <a:rPr sz="1600" b="1">
                <a:solidFill>
                  <a:srgbClr val="092B3C"/>
                </a:solidFill>
                <a:latin typeface="Calibri"/>
              </a:rPr>
              <a:t>Where</a:t>
            </a:r>
          </a:p>
        </p:txBody>
      </p:sp>
      <p:sp>
        <p:nvSpPr>
          <p:cNvPr id="19" name="TextBox 18"/>
          <p:cNvSpPr txBox="1"/>
          <p:nvPr/>
        </p:nvSpPr>
        <p:spPr>
          <a:xfrm>
            <a:off x="2194560" y="5065776"/>
            <a:ext cx="5486400" cy="640080"/>
          </a:xfrm>
          <a:prstGeom prst="rect">
            <a:avLst/>
          </a:prstGeom>
          <a:noFill/>
        </p:spPr>
        <p:txBody>
          <a:bodyPr wrap="square" lIns="0" rIns="0" tIns="0" bIns="0"/>
          <a:lstStyle/>
          <a:p>
            <a:pPr algn="l">
              <a:spcAft>
                <a:spcPts val="0"/>
              </a:spcAft>
            </a:pPr>
            <a:r>
              <a:rPr sz="1400" b="0">
                <a:solidFill>
                  <a:srgbClr val="5E7482"/>
                </a:solidFill>
                <a:latin typeface="Calibri"/>
              </a:rPr>
              <a:t>You → Notices still holds the same list. The row there says how many are unread.</a:t>
            </a:r>
          </a:p>
        </p:txBody>
      </p:sp>
      <p:sp>
        <p:nvSpPr>
          <p:cNvPr id="20" name="Rounded Rectangle 19"/>
          <p:cNvSpPr/>
          <p:nvPr/>
        </p:nvSpPr>
        <p:spPr>
          <a:xfrm>
            <a:off x="8366760" y="1691640"/>
            <a:ext cx="3200400" cy="4297680"/>
          </a:xfrm>
          <a:prstGeom prst="roundRect">
            <a:avLst>
              <a:gd name="adj" fmla="val 8000"/>
            </a:avLst>
          </a:prstGeom>
          <a:solidFill>
            <a:srgbClr val="FFFFFF">
              <a:alpha val="82000"/>
            </a:srgbClr>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9710928" y="1801368"/>
            <a:ext cx="512064" cy="54864"/>
          </a:xfrm>
          <a:prstGeom prst="roundRect">
            <a:avLst>
              <a:gd name="adj" fmla="val 50000"/>
            </a:avLst>
          </a:prstGeom>
          <a:solidFill>
            <a:srgbClr val="E3EE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13064" y="1984248"/>
            <a:ext cx="2450592" cy="274320"/>
          </a:xfrm>
          <a:prstGeom prst="rect">
            <a:avLst/>
          </a:prstGeom>
          <a:noFill/>
        </p:spPr>
        <p:txBody>
          <a:bodyPr wrap="square" lIns="0" rIns="0" tIns="0" bIns="0"/>
          <a:lstStyle/>
          <a:p>
            <a:pPr algn="l">
              <a:spcAft>
                <a:spcPts val="0"/>
              </a:spcAft>
            </a:pPr>
            <a:r>
              <a:rPr sz="1600" b="1">
                <a:solidFill>
                  <a:srgbClr val="092B3C"/>
                </a:solidFill>
                <a:latin typeface="Calibri"/>
              </a:rPr>
              <a:t>Parent</a:t>
            </a:r>
          </a:p>
        </p:txBody>
      </p:sp>
      <p:sp>
        <p:nvSpPr>
          <p:cNvPr id="23" name="Rounded Rectangle 22"/>
          <p:cNvSpPr/>
          <p:nvPr/>
        </p:nvSpPr>
        <p:spPr>
          <a:xfrm>
            <a:off x="11036808" y="1984248"/>
            <a:ext cx="384048" cy="384048"/>
          </a:xfrm>
          <a:prstGeom prst="roundRect">
            <a:avLst>
              <a:gd name="adj" fmla="val 47619"/>
            </a:avLst>
          </a:prstGeom>
          <a:solidFill>
            <a:srgbClr val="09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1036808" y="2039112"/>
            <a:ext cx="384048" cy="274320"/>
          </a:xfrm>
          <a:prstGeom prst="rect">
            <a:avLst/>
          </a:prstGeom>
          <a:noFill/>
        </p:spPr>
        <p:txBody>
          <a:bodyPr wrap="square" lIns="0" rIns="0" tIns="0" bIns="0"/>
          <a:lstStyle/>
          <a:p>
            <a:pPr algn="ctr">
              <a:spcAft>
                <a:spcPts val="0"/>
              </a:spcAft>
            </a:pPr>
            <a:r>
              <a:rPr sz="1200" b="1">
                <a:solidFill>
                  <a:srgbClr val="FFFFFF"/>
                </a:solidFill>
                <a:latin typeface="Calibri"/>
              </a:rPr>
              <a:t>4</a:t>
            </a:r>
          </a:p>
        </p:txBody>
      </p:sp>
      <p:sp>
        <p:nvSpPr>
          <p:cNvPr id="25" name="Rounded Rectangle 24"/>
          <p:cNvSpPr/>
          <p:nvPr/>
        </p:nvSpPr>
        <p:spPr>
          <a:xfrm>
            <a:off x="8513064" y="2624328"/>
            <a:ext cx="2907792" cy="777240"/>
          </a:xfrm>
          <a:prstGeom prst="roundRect">
            <a:avLst>
              <a:gd name="adj" fmla="val 11764"/>
            </a:avLst>
          </a:prstGeom>
          <a:solidFill>
            <a:srgbClr val="FFFFFF">
              <a:alpha val="90000"/>
            </a:srgbClr>
          </a:solidFill>
          <a:ln w="9525">
            <a:solidFill>
              <a:srgbClr val="E3EE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8622792" y="2770632"/>
            <a:ext cx="128016" cy="128016"/>
          </a:xfrm>
          <a:prstGeom prst="ellipse">
            <a:avLst/>
          </a:prstGeom>
          <a:solidFill>
            <a:srgbClr val="18D6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842248" y="2715768"/>
            <a:ext cx="2450592" cy="237744"/>
          </a:xfrm>
          <a:prstGeom prst="rect">
            <a:avLst/>
          </a:prstGeom>
          <a:noFill/>
        </p:spPr>
        <p:txBody>
          <a:bodyPr wrap="square" lIns="0" rIns="0" tIns="0" bIns="0"/>
          <a:lstStyle/>
          <a:p>
            <a:pPr algn="l">
              <a:spcAft>
                <a:spcPts val="0"/>
              </a:spcAft>
            </a:pPr>
            <a:r>
              <a:rPr sz="1300" b="1">
                <a:solidFill>
                  <a:srgbClr val="092B3C"/>
                </a:solidFill>
                <a:latin typeface="Calibri"/>
              </a:rPr>
              <a:t>Link completed</a:t>
            </a:r>
          </a:p>
        </p:txBody>
      </p:sp>
      <p:sp>
        <p:nvSpPr>
          <p:cNvPr id="28" name="TextBox 27"/>
          <p:cNvSpPr txBox="1"/>
          <p:nvPr/>
        </p:nvSpPr>
        <p:spPr>
          <a:xfrm>
            <a:off x="8622792" y="3008376"/>
            <a:ext cx="2688336" cy="256032"/>
          </a:xfrm>
          <a:prstGeom prst="rect">
            <a:avLst/>
          </a:prstGeom>
          <a:noFill/>
        </p:spPr>
        <p:txBody>
          <a:bodyPr wrap="square" lIns="0" rIns="0" tIns="0" bIns="0"/>
          <a:lstStyle/>
          <a:p>
            <a:pPr algn="l">
              <a:spcAft>
                <a:spcPts val="0"/>
              </a:spcAft>
            </a:pPr>
            <a:r>
              <a:rPr sz="1100" b="0">
                <a:solidFill>
                  <a:srgbClr val="5E7482"/>
                </a:solidFill>
                <a:latin typeface="Calibri"/>
              </a:rPr>
              <a:t>On this account</a:t>
            </a:r>
          </a:p>
        </p:txBody>
      </p:sp>
      <p:sp>
        <p:nvSpPr>
          <p:cNvPr id="29" name="Rounded Rectangle 28"/>
          <p:cNvSpPr/>
          <p:nvPr/>
        </p:nvSpPr>
        <p:spPr>
          <a:xfrm>
            <a:off x="8513064" y="3493008"/>
            <a:ext cx="2907792" cy="777240"/>
          </a:xfrm>
          <a:prstGeom prst="roundRect">
            <a:avLst>
              <a:gd name="adj" fmla="val 11764"/>
            </a:avLst>
          </a:prstGeom>
          <a:solidFill>
            <a:srgbClr val="FFFFFF">
              <a:alpha val="90000"/>
            </a:srgbClr>
          </a:solidFill>
          <a:ln w="9525">
            <a:solidFill>
              <a:srgbClr val="E3EE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622792" y="3639312"/>
            <a:ext cx="128016" cy="128016"/>
          </a:xfrm>
          <a:prstGeom prst="ellipse">
            <a:avLst/>
          </a:prstGeom>
          <a:solidFill>
            <a:srgbClr val="18D6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842248" y="3584448"/>
            <a:ext cx="2450592" cy="237744"/>
          </a:xfrm>
          <a:prstGeom prst="rect">
            <a:avLst/>
          </a:prstGeom>
          <a:noFill/>
        </p:spPr>
        <p:txBody>
          <a:bodyPr wrap="square" lIns="0" rIns="0" tIns="0" bIns="0"/>
          <a:lstStyle/>
          <a:p>
            <a:pPr algn="l">
              <a:spcAft>
                <a:spcPts val="0"/>
              </a:spcAft>
            </a:pPr>
            <a:r>
              <a:rPr sz="1300" b="1">
                <a:solidFill>
                  <a:srgbClr val="092B3C"/>
                </a:solidFill>
                <a:latin typeface="Calibri"/>
              </a:rPr>
              <a:t>Payment received</a:t>
            </a:r>
          </a:p>
        </p:txBody>
      </p:sp>
      <p:sp>
        <p:nvSpPr>
          <p:cNvPr id="32" name="TextBox 31"/>
          <p:cNvSpPr txBox="1"/>
          <p:nvPr/>
        </p:nvSpPr>
        <p:spPr>
          <a:xfrm>
            <a:off x="8622792" y="3877056"/>
            <a:ext cx="2688336" cy="256032"/>
          </a:xfrm>
          <a:prstGeom prst="rect">
            <a:avLst/>
          </a:prstGeom>
          <a:noFill/>
        </p:spPr>
        <p:txBody>
          <a:bodyPr wrap="square" lIns="0" rIns="0" tIns="0" bIns="0"/>
          <a:lstStyle/>
          <a:p>
            <a:pPr algn="l">
              <a:spcAft>
                <a:spcPts val="0"/>
              </a:spcAft>
            </a:pPr>
            <a:r>
              <a:rPr sz="1100" b="0">
                <a:solidFill>
                  <a:srgbClr val="5E7482"/>
                </a:solidFill>
                <a:latin typeface="Calibri"/>
              </a:rPr>
              <a:t>On this account</a:t>
            </a:r>
          </a:p>
        </p:txBody>
      </p:sp>
      <p:sp>
        <p:nvSpPr>
          <p:cNvPr id="33" name="Rounded Rectangle 32"/>
          <p:cNvSpPr/>
          <p:nvPr/>
        </p:nvSpPr>
        <p:spPr>
          <a:xfrm>
            <a:off x="8513064" y="4361687"/>
            <a:ext cx="2907792" cy="777240"/>
          </a:xfrm>
          <a:prstGeom prst="roundRect">
            <a:avLst>
              <a:gd name="adj" fmla="val 11764"/>
            </a:avLst>
          </a:prstGeom>
          <a:solidFill>
            <a:srgbClr val="FFFFFF">
              <a:alpha val="90000"/>
            </a:srgbClr>
          </a:solidFill>
          <a:ln w="9525">
            <a:solidFill>
              <a:srgbClr val="E3EE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622792" y="4453127"/>
            <a:ext cx="2450592" cy="237744"/>
          </a:xfrm>
          <a:prstGeom prst="rect">
            <a:avLst/>
          </a:prstGeom>
          <a:noFill/>
        </p:spPr>
        <p:txBody>
          <a:bodyPr wrap="square" lIns="0" rIns="0" tIns="0" bIns="0"/>
          <a:lstStyle/>
          <a:p>
            <a:pPr algn="l">
              <a:spcAft>
                <a:spcPts val="0"/>
              </a:spcAft>
            </a:pPr>
            <a:r>
              <a:rPr sz="1300" b="1">
                <a:solidFill>
                  <a:srgbClr val="092B3C"/>
                </a:solidFill>
                <a:latin typeface="Calibri"/>
              </a:rPr>
              <a:t>Payment received</a:t>
            </a:r>
          </a:p>
        </p:txBody>
      </p:sp>
      <p:sp>
        <p:nvSpPr>
          <p:cNvPr id="35" name="TextBox 34"/>
          <p:cNvSpPr txBox="1"/>
          <p:nvPr/>
        </p:nvSpPr>
        <p:spPr>
          <a:xfrm>
            <a:off x="8622792" y="4745735"/>
            <a:ext cx="2688336" cy="256032"/>
          </a:xfrm>
          <a:prstGeom prst="rect">
            <a:avLst/>
          </a:prstGeom>
          <a:noFill/>
        </p:spPr>
        <p:txBody>
          <a:bodyPr wrap="square" lIns="0" rIns="0" tIns="0" bIns="0"/>
          <a:lstStyle/>
          <a:p>
            <a:pPr algn="l">
              <a:spcAft>
                <a:spcPts val="0"/>
              </a:spcAft>
            </a:pPr>
            <a:r>
              <a:rPr sz="1100" b="0">
                <a:solidFill>
                  <a:srgbClr val="5E7482"/>
                </a:solidFill>
                <a:latin typeface="Calibri"/>
              </a:rPr>
              <a:t>On this account</a:t>
            </a:r>
          </a:p>
        </p:txBody>
      </p:sp>
      <p:sp>
        <p:nvSpPr>
          <p:cNvPr id="36" name="TextBox 35"/>
          <p:cNvSpPr txBox="1"/>
          <p:nvPr/>
        </p:nvSpPr>
        <p:spPr>
          <a:xfrm>
            <a:off x="502920" y="6473952"/>
            <a:ext cx="7315200" cy="256032"/>
          </a:xfrm>
          <a:prstGeom prst="rect">
            <a:avLst/>
          </a:prstGeom>
          <a:noFill/>
        </p:spPr>
        <p:txBody>
          <a:bodyPr wrap="square" lIns="0" rIns="0" tIns="0" bIns="0"/>
          <a:lstStyle/>
          <a:p>
            <a:pPr algn="l">
              <a:spcAft>
                <a:spcPts val="0"/>
              </a:spcAft>
            </a:pPr>
            <a:r>
              <a:rPr sz="1100" b="0">
                <a:solidFill>
                  <a:srgbClr val="5E7482"/>
                </a:solidFill>
                <a:latin typeface="Calibri"/>
              </a:rPr>
              <a:t>RUPSA NEXT   ·   Parent &amp; Guardian mobile</a:t>
            </a:r>
          </a:p>
        </p:txBody>
      </p:sp>
      <p:sp>
        <p:nvSpPr>
          <p:cNvPr id="37" name="TextBox 36"/>
          <p:cNvSpPr txBox="1"/>
          <p:nvPr/>
        </p:nvSpPr>
        <p:spPr>
          <a:xfrm>
            <a:off x="10241280" y="6473952"/>
            <a:ext cx="1417320" cy="256032"/>
          </a:xfrm>
          <a:prstGeom prst="rect">
            <a:avLst/>
          </a:prstGeom>
          <a:noFill/>
        </p:spPr>
        <p:txBody>
          <a:bodyPr wrap="square" lIns="0" rIns="0" tIns="0" bIns="0"/>
          <a:lstStyle/>
          <a:p>
            <a:pPr algn="r">
              <a:spcAft>
                <a:spcPts val="0"/>
              </a:spcAft>
            </a:pPr>
            <a:r>
              <a:rPr sz="1100" b="0">
                <a:solidFill>
                  <a:srgbClr val="5E7482"/>
                </a:solidFill>
                <a:latin typeface="Calibri"/>
              </a:rPr>
              <a:t>11  /  12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595360" y="-1463040"/>
            <a:ext cx="4754880" cy="4754880"/>
          </a:xfrm>
          <a:prstGeom prst="ellipse">
            <a:avLst/>
          </a:prstGeom>
          <a:solidFill>
            <a:srgbClr val="18D6B4">
              <a:alpha val="2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45920" y="4206240"/>
            <a:ext cx="4206240" cy="4206240"/>
          </a:xfrm>
          <a:prstGeom prst="ellipse">
            <a:avLst/>
          </a:prstGeom>
          <a:solidFill>
            <a:srgbClr val="092B3C">
              <a:alpha val="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292608"/>
            <a:ext cx="7772400" cy="256032"/>
          </a:xfrm>
          <a:prstGeom prst="rect">
            <a:avLst/>
          </a:prstGeom>
          <a:noFill/>
        </p:spPr>
        <p:txBody>
          <a:bodyPr wrap="square" lIns="0" rIns="0" tIns="0" bIns="0"/>
          <a:lstStyle/>
          <a:p>
            <a:pPr algn="l">
              <a:spcAft>
                <a:spcPts val="0"/>
              </a:spcAft>
            </a:pPr>
            <a:r>
              <a:rPr sz="1200" b="1">
                <a:solidFill>
                  <a:srgbClr val="18D6B4"/>
                </a:solidFill>
                <a:latin typeface="Calibri"/>
              </a:rPr>
              <a:t>YOU</a:t>
            </a:r>
          </a:p>
        </p:txBody>
      </p:sp>
      <p:sp>
        <p:nvSpPr>
          <p:cNvPr id="6" name="TextBox 5"/>
          <p:cNvSpPr txBox="1"/>
          <p:nvPr/>
        </p:nvSpPr>
        <p:spPr>
          <a:xfrm>
            <a:off x="502920" y="530352"/>
            <a:ext cx="8046720" cy="502920"/>
          </a:xfrm>
          <a:prstGeom prst="rect">
            <a:avLst/>
          </a:prstGeom>
          <a:noFill/>
        </p:spPr>
        <p:txBody>
          <a:bodyPr wrap="square" lIns="0" rIns="0" tIns="0" bIns="0"/>
          <a:lstStyle/>
          <a:p>
            <a:pPr algn="l">
              <a:spcAft>
                <a:spcPts val="0"/>
              </a:spcAft>
            </a:pPr>
            <a:r>
              <a:rPr sz="3000" b="1">
                <a:solidFill>
                  <a:srgbClr val="092B3C"/>
                </a:solidFill>
                <a:latin typeface="Calibri"/>
              </a:rPr>
              <a:t>The rest of the account, and the boundary</a:t>
            </a:r>
          </a:p>
        </p:txBody>
      </p:sp>
      <p:sp>
        <p:nvSpPr>
          <p:cNvPr id="7" name="TextBox 6"/>
          <p:cNvSpPr txBox="1"/>
          <p:nvPr/>
        </p:nvSpPr>
        <p:spPr>
          <a:xfrm>
            <a:off x="502920" y="1078992"/>
            <a:ext cx="7863840" cy="640080"/>
          </a:xfrm>
          <a:prstGeom prst="rect">
            <a:avLst/>
          </a:prstGeom>
          <a:noFill/>
        </p:spPr>
        <p:txBody>
          <a:bodyPr wrap="square" lIns="0" rIns="0" tIns="0" bIns="0"/>
          <a:lstStyle/>
          <a:p>
            <a:pPr algn="l">
              <a:spcAft>
                <a:spcPts val="0"/>
              </a:spcAft>
            </a:pPr>
            <a:r>
              <a:rPr sz="1500" b="0">
                <a:solidFill>
                  <a:srgbClr val="5E7482"/>
                </a:solidFill>
                <a:latin typeface="Calibri"/>
              </a:rPr>
              <a:t>Preferences remember how this parent likes to pay. The operator tools stay off the phone.</a:t>
            </a:r>
          </a:p>
        </p:txBody>
      </p:sp>
      <p:sp>
        <p:nvSpPr>
          <p:cNvPr id="8" name="Rounded Rectangle 7"/>
          <p:cNvSpPr/>
          <p:nvPr/>
        </p:nvSpPr>
        <p:spPr>
          <a:xfrm>
            <a:off x="502920" y="1965960"/>
            <a:ext cx="3794760" cy="932688"/>
          </a:xfrm>
          <a:prstGeom prst="roundRect">
            <a:avLst>
              <a:gd name="adj" fmla="val 13725"/>
            </a:avLst>
          </a:prstGeom>
          <a:solidFill>
            <a:srgbClr val="FFFFFF">
              <a:alpha val="80000"/>
            </a:srgbClr>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7512" y="2075688"/>
            <a:ext cx="3474720" cy="274320"/>
          </a:xfrm>
          <a:prstGeom prst="rect">
            <a:avLst/>
          </a:prstGeom>
          <a:noFill/>
        </p:spPr>
        <p:txBody>
          <a:bodyPr wrap="square" lIns="0" rIns="0" tIns="0" bIns="0"/>
          <a:lstStyle/>
          <a:p>
            <a:pPr algn="l">
              <a:spcAft>
                <a:spcPts val="0"/>
              </a:spcAft>
            </a:pPr>
            <a:r>
              <a:rPr sz="1500" b="1">
                <a:solidFill>
                  <a:srgbClr val="092B3C"/>
                </a:solidFill>
                <a:latin typeface="Calibri"/>
              </a:rPr>
              <a:t>Authorization</a:t>
            </a:r>
          </a:p>
        </p:txBody>
      </p:sp>
      <p:sp>
        <p:nvSpPr>
          <p:cNvPr id="10" name="TextBox 9"/>
          <p:cNvSpPr txBox="1"/>
          <p:nvPr/>
        </p:nvSpPr>
        <p:spPr>
          <a:xfrm>
            <a:off x="667512" y="2386584"/>
            <a:ext cx="3474720" cy="365760"/>
          </a:xfrm>
          <a:prstGeom prst="rect">
            <a:avLst/>
          </a:prstGeom>
          <a:noFill/>
        </p:spPr>
        <p:txBody>
          <a:bodyPr wrap="square" lIns="0" rIns="0" tIns="0" bIns="0"/>
          <a:lstStyle/>
          <a:p>
            <a:pPr algn="l">
              <a:spcAft>
                <a:spcPts val="0"/>
              </a:spcAft>
            </a:pPr>
            <a:r>
              <a:rPr sz="1300" b="0">
                <a:solidFill>
                  <a:srgbClr val="5E7482"/>
                </a:solidFill>
                <a:latin typeface="Calibri"/>
              </a:rPr>
              <a:t>Give or withdraw parental consent.</a:t>
            </a:r>
          </a:p>
        </p:txBody>
      </p:sp>
      <p:sp>
        <p:nvSpPr>
          <p:cNvPr id="11" name="Rounded Rectangle 10"/>
          <p:cNvSpPr/>
          <p:nvPr/>
        </p:nvSpPr>
        <p:spPr>
          <a:xfrm>
            <a:off x="4480559" y="1965960"/>
            <a:ext cx="3794760" cy="932688"/>
          </a:xfrm>
          <a:prstGeom prst="roundRect">
            <a:avLst>
              <a:gd name="adj" fmla="val 13725"/>
            </a:avLst>
          </a:prstGeom>
          <a:solidFill>
            <a:srgbClr val="FFFFFF">
              <a:alpha val="80000"/>
            </a:srgbClr>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45151" y="2075688"/>
            <a:ext cx="3474720" cy="274320"/>
          </a:xfrm>
          <a:prstGeom prst="rect">
            <a:avLst/>
          </a:prstGeom>
          <a:noFill/>
        </p:spPr>
        <p:txBody>
          <a:bodyPr wrap="square" lIns="0" rIns="0" tIns="0" bIns="0"/>
          <a:lstStyle/>
          <a:p>
            <a:pPr algn="l">
              <a:spcAft>
                <a:spcPts val="0"/>
              </a:spcAft>
            </a:pPr>
            <a:r>
              <a:rPr sz="1500" b="1">
                <a:solidFill>
                  <a:srgbClr val="092B3C"/>
                </a:solidFill>
                <a:latin typeface="Calibri"/>
              </a:rPr>
              <a:t>Identity</a:t>
            </a:r>
          </a:p>
        </p:txBody>
      </p:sp>
      <p:sp>
        <p:nvSpPr>
          <p:cNvPr id="13" name="TextBox 12"/>
          <p:cNvSpPr txBox="1"/>
          <p:nvPr/>
        </p:nvSpPr>
        <p:spPr>
          <a:xfrm>
            <a:off x="4645151" y="2386584"/>
            <a:ext cx="3474720" cy="365760"/>
          </a:xfrm>
          <a:prstGeom prst="rect">
            <a:avLst/>
          </a:prstGeom>
          <a:noFill/>
        </p:spPr>
        <p:txBody>
          <a:bodyPr wrap="square" lIns="0" rIns="0" tIns="0" bIns="0"/>
          <a:lstStyle/>
          <a:p>
            <a:pPr algn="l">
              <a:spcAft>
                <a:spcPts val="0"/>
              </a:spcAft>
            </a:pPr>
            <a:r>
              <a:rPr sz="1300" b="0">
                <a:solidFill>
                  <a:srgbClr val="5E7482"/>
                </a:solidFill>
                <a:latin typeface="Calibri"/>
              </a:rPr>
              <a:t>See status and submit the national ID.</a:t>
            </a:r>
          </a:p>
        </p:txBody>
      </p:sp>
      <p:sp>
        <p:nvSpPr>
          <p:cNvPr id="14" name="Rounded Rectangle 13"/>
          <p:cNvSpPr/>
          <p:nvPr/>
        </p:nvSpPr>
        <p:spPr>
          <a:xfrm>
            <a:off x="502920" y="3017520"/>
            <a:ext cx="3794760" cy="932688"/>
          </a:xfrm>
          <a:prstGeom prst="roundRect">
            <a:avLst>
              <a:gd name="adj" fmla="val 13725"/>
            </a:avLst>
          </a:prstGeom>
          <a:solidFill>
            <a:srgbClr val="FFFFFF">
              <a:alpha val="80000"/>
            </a:srgbClr>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67512" y="3127248"/>
            <a:ext cx="3474720" cy="274320"/>
          </a:xfrm>
          <a:prstGeom prst="rect">
            <a:avLst/>
          </a:prstGeom>
          <a:noFill/>
        </p:spPr>
        <p:txBody>
          <a:bodyPr wrap="square" lIns="0" rIns="0" tIns="0" bIns="0"/>
          <a:lstStyle/>
          <a:p>
            <a:pPr algn="l">
              <a:spcAft>
                <a:spcPts val="0"/>
              </a:spcAft>
            </a:pPr>
            <a:r>
              <a:rPr sz="1500" b="1">
                <a:solidFill>
                  <a:srgbClr val="092B3C"/>
                </a:solidFill>
                <a:latin typeface="Calibri"/>
              </a:rPr>
              <a:t>Contact</a:t>
            </a:r>
          </a:p>
        </p:txBody>
      </p:sp>
      <p:sp>
        <p:nvSpPr>
          <p:cNvPr id="16" name="TextBox 15"/>
          <p:cNvSpPr txBox="1"/>
          <p:nvPr/>
        </p:nvSpPr>
        <p:spPr>
          <a:xfrm>
            <a:off x="667512" y="3438144"/>
            <a:ext cx="3474720" cy="365760"/>
          </a:xfrm>
          <a:prstGeom prst="rect">
            <a:avLst/>
          </a:prstGeom>
          <a:noFill/>
        </p:spPr>
        <p:txBody>
          <a:bodyPr wrap="square" lIns="0" rIns="0" tIns="0" bIns="0"/>
          <a:lstStyle/>
          <a:p>
            <a:pPr algn="l">
              <a:spcAft>
                <a:spcPts val="0"/>
              </a:spcAft>
            </a:pPr>
            <a:r>
              <a:rPr sz="1300" b="0">
                <a:solidFill>
                  <a:srgbClr val="5E7482"/>
                </a:solidFill>
                <a:latin typeface="Calibri"/>
              </a:rPr>
              <a:t>Update email and phone.</a:t>
            </a:r>
          </a:p>
        </p:txBody>
      </p:sp>
      <p:sp>
        <p:nvSpPr>
          <p:cNvPr id="17" name="Rounded Rectangle 16"/>
          <p:cNvSpPr/>
          <p:nvPr/>
        </p:nvSpPr>
        <p:spPr>
          <a:xfrm>
            <a:off x="4480559" y="3017520"/>
            <a:ext cx="3794760" cy="932688"/>
          </a:xfrm>
          <a:prstGeom prst="roundRect">
            <a:avLst>
              <a:gd name="adj" fmla="val 13725"/>
            </a:avLst>
          </a:prstGeom>
          <a:solidFill>
            <a:srgbClr val="FFFFFF">
              <a:alpha val="80000"/>
            </a:srgbClr>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45151" y="3127248"/>
            <a:ext cx="3474720" cy="274320"/>
          </a:xfrm>
          <a:prstGeom prst="rect">
            <a:avLst/>
          </a:prstGeom>
          <a:noFill/>
        </p:spPr>
        <p:txBody>
          <a:bodyPr wrap="square" lIns="0" rIns="0" tIns="0" bIns="0"/>
          <a:lstStyle/>
          <a:p>
            <a:pPr algn="l">
              <a:spcAft>
                <a:spcPts val="0"/>
              </a:spcAft>
            </a:pPr>
            <a:r>
              <a:rPr sz="1500" b="1">
                <a:solidFill>
                  <a:srgbClr val="092B3C"/>
                </a:solidFill>
                <a:latin typeface="Calibri"/>
              </a:rPr>
              <a:t>Link a student</a:t>
            </a:r>
          </a:p>
        </p:txBody>
      </p:sp>
      <p:sp>
        <p:nvSpPr>
          <p:cNvPr id="19" name="TextBox 18"/>
          <p:cNvSpPr txBox="1"/>
          <p:nvPr/>
        </p:nvSpPr>
        <p:spPr>
          <a:xfrm>
            <a:off x="4645151" y="3438144"/>
            <a:ext cx="3474720" cy="365760"/>
          </a:xfrm>
          <a:prstGeom prst="rect">
            <a:avLst/>
          </a:prstGeom>
          <a:noFill/>
        </p:spPr>
        <p:txBody>
          <a:bodyPr wrap="square" lIns="0" rIns="0" tIns="0" bIns="0"/>
          <a:lstStyle/>
          <a:p>
            <a:pPr algn="l">
              <a:spcAft>
                <a:spcPts val="0"/>
              </a:spcAft>
            </a:pPr>
            <a:r>
              <a:rPr sz="1300" b="0">
                <a:solidFill>
                  <a:srgbClr val="5E7482"/>
                </a:solidFill>
                <a:latin typeface="Calibri"/>
              </a:rPr>
              <a:t>Connect another child at their school.</a:t>
            </a:r>
          </a:p>
        </p:txBody>
      </p:sp>
      <p:sp>
        <p:nvSpPr>
          <p:cNvPr id="20" name="Rounded Rectangle 19"/>
          <p:cNvSpPr/>
          <p:nvPr/>
        </p:nvSpPr>
        <p:spPr>
          <a:xfrm>
            <a:off x="502920" y="4069079"/>
            <a:ext cx="3794760" cy="932688"/>
          </a:xfrm>
          <a:prstGeom prst="roundRect">
            <a:avLst>
              <a:gd name="adj" fmla="val 13725"/>
            </a:avLst>
          </a:prstGeom>
          <a:solidFill>
            <a:srgbClr val="FFFFFF">
              <a:alpha val="80000"/>
            </a:srgbClr>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67512" y="4178807"/>
            <a:ext cx="3474720" cy="274320"/>
          </a:xfrm>
          <a:prstGeom prst="rect">
            <a:avLst/>
          </a:prstGeom>
          <a:noFill/>
        </p:spPr>
        <p:txBody>
          <a:bodyPr wrap="square" lIns="0" rIns="0" tIns="0" bIns="0"/>
          <a:lstStyle/>
          <a:p>
            <a:pPr algn="l">
              <a:spcAft>
                <a:spcPts val="0"/>
              </a:spcAft>
            </a:pPr>
            <a:r>
              <a:rPr sz="1500" b="1">
                <a:solidFill>
                  <a:srgbClr val="092B3C"/>
                </a:solidFill>
                <a:latin typeface="Calibri"/>
              </a:rPr>
              <a:t>Payment preferences</a:t>
            </a:r>
          </a:p>
        </p:txBody>
      </p:sp>
      <p:sp>
        <p:nvSpPr>
          <p:cNvPr id="22" name="TextBox 21"/>
          <p:cNvSpPr txBox="1"/>
          <p:nvPr/>
        </p:nvSpPr>
        <p:spPr>
          <a:xfrm>
            <a:off x="667512" y="4489703"/>
            <a:ext cx="3474720" cy="365760"/>
          </a:xfrm>
          <a:prstGeom prst="rect">
            <a:avLst/>
          </a:prstGeom>
          <a:noFill/>
        </p:spPr>
        <p:txBody>
          <a:bodyPr wrap="square" lIns="0" rIns="0" tIns="0" bIns="0"/>
          <a:lstStyle/>
          <a:p>
            <a:pPr algn="l">
              <a:spcAft>
                <a:spcPts val="0"/>
              </a:spcAft>
            </a:pPr>
            <a:r>
              <a:rPr sz="1300" b="0">
                <a:solidFill>
                  <a:srgbClr val="5E7482"/>
                </a:solidFill>
                <a:latin typeface="Calibri"/>
              </a:rPr>
              <a:t>Preferred rail, country, and how notices arrive.</a:t>
            </a:r>
          </a:p>
        </p:txBody>
      </p:sp>
      <p:sp>
        <p:nvSpPr>
          <p:cNvPr id="23" name="Rounded Rectangle 22"/>
          <p:cNvSpPr/>
          <p:nvPr/>
        </p:nvSpPr>
        <p:spPr>
          <a:xfrm>
            <a:off x="4480559" y="4069079"/>
            <a:ext cx="3794760" cy="932688"/>
          </a:xfrm>
          <a:prstGeom prst="roundRect">
            <a:avLst>
              <a:gd name="adj" fmla="val 13725"/>
            </a:avLst>
          </a:prstGeom>
          <a:solidFill>
            <a:srgbClr val="FFFFFF">
              <a:alpha val="80000"/>
            </a:srgbClr>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645151" y="4178807"/>
            <a:ext cx="3474720" cy="274320"/>
          </a:xfrm>
          <a:prstGeom prst="rect">
            <a:avLst/>
          </a:prstGeom>
          <a:noFill/>
        </p:spPr>
        <p:txBody>
          <a:bodyPr wrap="square" lIns="0" rIns="0" tIns="0" bIns="0"/>
          <a:lstStyle/>
          <a:p>
            <a:pPr algn="l">
              <a:spcAft>
                <a:spcPts val="0"/>
              </a:spcAft>
            </a:pPr>
            <a:r>
              <a:rPr sz="1500" b="1">
                <a:solidFill>
                  <a:srgbClr val="092B3C"/>
                </a:solidFill>
                <a:latin typeface="Calibri"/>
              </a:rPr>
              <a:t>Notices</a:t>
            </a:r>
          </a:p>
        </p:txBody>
      </p:sp>
      <p:sp>
        <p:nvSpPr>
          <p:cNvPr id="25" name="TextBox 24"/>
          <p:cNvSpPr txBox="1"/>
          <p:nvPr/>
        </p:nvSpPr>
        <p:spPr>
          <a:xfrm>
            <a:off x="4645151" y="4489703"/>
            <a:ext cx="3474720" cy="365760"/>
          </a:xfrm>
          <a:prstGeom prst="rect">
            <a:avLst/>
          </a:prstGeom>
          <a:noFill/>
        </p:spPr>
        <p:txBody>
          <a:bodyPr wrap="square" lIns="0" rIns="0" tIns="0" bIns="0"/>
          <a:lstStyle/>
          <a:p>
            <a:pPr algn="l">
              <a:spcAft>
                <a:spcPts val="0"/>
              </a:spcAft>
            </a:pPr>
            <a:r>
              <a:rPr sz="1300" b="0">
                <a:solidFill>
                  <a:srgbClr val="5E7482"/>
                </a:solidFill>
                <a:latin typeface="Calibri"/>
              </a:rPr>
              <a:t>The inbox, with the unread count.</a:t>
            </a:r>
          </a:p>
        </p:txBody>
      </p:sp>
      <p:sp>
        <p:nvSpPr>
          <p:cNvPr id="26" name="TextBox 25"/>
          <p:cNvSpPr txBox="1"/>
          <p:nvPr/>
        </p:nvSpPr>
        <p:spPr>
          <a:xfrm>
            <a:off x="502920" y="5212080"/>
            <a:ext cx="7772400" cy="502920"/>
          </a:xfrm>
          <a:prstGeom prst="rect">
            <a:avLst/>
          </a:prstGeom>
          <a:noFill/>
        </p:spPr>
        <p:txBody>
          <a:bodyPr wrap="square" lIns="0" rIns="0" tIns="0" bIns="0"/>
          <a:lstStyle/>
          <a:p>
            <a:pPr algn="l">
              <a:spcAft>
                <a:spcPts val="0"/>
              </a:spcAft>
            </a:pPr>
            <a:r>
              <a:rPr sz="1500" b="0">
                <a:solidFill>
                  <a:srgbClr val="16384A"/>
                </a:solidFill>
                <a:latin typeface="Calibri"/>
              </a:rPr>
              <a:t>Sign out sits under that menu. A parent session cannot open the school, bank, or operator boards.</a:t>
            </a:r>
          </a:p>
        </p:txBody>
      </p:sp>
      <p:sp>
        <p:nvSpPr>
          <p:cNvPr id="27" name="Rounded Rectangle 26"/>
          <p:cNvSpPr/>
          <p:nvPr/>
        </p:nvSpPr>
        <p:spPr>
          <a:xfrm>
            <a:off x="8595360" y="1965960"/>
            <a:ext cx="3108960" cy="3063240"/>
          </a:xfrm>
          <a:prstGeom prst="roundRect">
            <a:avLst>
              <a:gd name="adj" fmla="val 5373"/>
            </a:avLst>
          </a:prstGeom>
          <a:solidFill>
            <a:srgbClr val="09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778240" y="2148840"/>
            <a:ext cx="2788920" cy="320040"/>
          </a:xfrm>
          <a:prstGeom prst="rect">
            <a:avLst/>
          </a:prstGeom>
          <a:noFill/>
        </p:spPr>
        <p:txBody>
          <a:bodyPr wrap="square" lIns="0" rIns="0" tIns="0" bIns="0"/>
          <a:lstStyle/>
          <a:p>
            <a:pPr algn="l">
              <a:spcAft>
                <a:spcPts val="0"/>
              </a:spcAft>
            </a:pPr>
            <a:r>
              <a:rPr sz="1400" b="1">
                <a:solidFill>
                  <a:srgbClr val="18D6B4"/>
                </a:solidFill>
                <a:latin typeface="Calibri"/>
              </a:rPr>
              <a:t>Kept off this phone</a:t>
            </a:r>
          </a:p>
        </p:txBody>
      </p:sp>
      <p:sp>
        <p:nvSpPr>
          <p:cNvPr id="29" name="TextBox 28"/>
          <p:cNvSpPr txBox="1"/>
          <p:nvPr/>
        </p:nvSpPr>
        <p:spPr>
          <a:xfrm>
            <a:off x="8778240" y="2606040"/>
            <a:ext cx="2788920" cy="2103120"/>
          </a:xfrm>
          <a:prstGeom prst="rect">
            <a:avLst/>
          </a:prstGeom>
          <a:noFill/>
        </p:spPr>
        <p:txBody>
          <a:bodyPr wrap="square" lIns="0" rIns="0" tIns="0" bIns="0"/>
          <a:lstStyle/>
          <a:p>
            <a:pPr algn="l">
              <a:spcAft>
                <a:spcPts val="600"/>
              </a:spcAft>
            </a:pPr>
            <a:r>
              <a:rPr sz="1500" b="0">
                <a:solidFill>
                  <a:srgbClr val="FFFFFF"/>
                </a:solidFill>
                <a:latin typeface="Calibri"/>
              </a:rPr>
              <a:t>Refunds and reversals</a:t>
            </a:r>
          </a:p>
          <a:p>
            <a:pPr algn="l">
              <a:spcAft>
                <a:spcPts val="600"/>
              </a:spcAft>
            </a:pPr>
            <a:r>
              <a:rPr sz="1500" b="0">
                <a:solidFill>
                  <a:srgbClr val="FFFFFF"/>
                </a:solidFill>
                <a:latin typeface="Calibri"/>
              </a:rPr>
              <a:t>The full rail catalog</a:t>
            </a:r>
          </a:p>
          <a:p>
            <a:pPr algn="l">
              <a:spcAft>
                <a:spcPts val="600"/>
              </a:spcAft>
            </a:pPr>
            <a:r>
              <a:rPr sz="1500" b="0">
                <a:solidFill>
                  <a:srgbClr val="FFFFFF"/>
                </a:solidFill>
                <a:latin typeface="Calibri"/>
              </a:rPr>
              <a:t>School administration</a:t>
            </a:r>
          </a:p>
          <a:p>
            <a:pPr algn="l">
              <a:spcAft>
                <a:spcPts val="600"/>
              </a:spcAft>
            </a:pPr>
            <a:r>
              <a:rPr sz="1500" b="0">
                <a:solidFill>
                  <a:srgbClr val="FFFFFF"/>
                </a:solidFill>
                <a:latin typeface="Calibri"/>
              </a:rPr>
              <a:t>Verifying an identity</a:t>
            </a:r>
          </a:p>
          <a:p>
            <a:pPr algn="l">
              <a:spcAft>
                <a:spcPts val="600"/>
              </a:spcAft>
            </a:pPr>
            <a:r>
              <a:rPr sz="1500" b="0">
                <a:solidFill>
                  <a:srgbClr val="FFFFFF"/>
                </a:solidFill>
                <a:latin typeface="Calibri"/>
              </a:rPr>
              <a:t>Opening another role</a:t>
            </a:r>
          </a:p>
        </p:txBody>
      </p:sp>
      <p:sp>
        <p:nvSpPr>
          <p:cNvPr id="30" name="TextBox 29"/>
          <p:cNvSpPr txBox="1"/>
          <p:nvPr/>
        </p:nvSpPr>
        <p:spPr>
          <a:xfrm>
            <a:off x="502920" y="6473952"/>
            <a:ext cx="7315200" cy="256032"/>
          </a:xfrm>
          <a:prstGeom prst="rect">
            <a:avLst/>
          </a:prstGeom>
          <a:noFill/>
        </p:spPr>
        <p:txBody>
          <a:bodyPr wrap="square" lIns="0" rIns="0" tIns="0" bIns="0"/>
          <a:lstStyle/>
          <a:p>
            <a:pPr algn="l">
              <a:spcAft>
                <a:spcPts val="0"/>
              </a:spcAft>
            </a:pPr>
            <a:r>
              <a:rPr sz="1100" b="0">
                <a:solidFill>
                  <a:srgbClr val="5E7482"/>
                </a:solidFill>
                <a:latin typeface="Calibri"/>
              </a:rPr>
              <a:t>RUPSA NEXT   ·   Parent &amp; Guardian mobile</a:t>
            </a:r>
          </a:p>
        </p:txBody>
      </p:sp>
      <p:sp>
        <p:nvSpPr>
          <p:cNvPr id="31" name="TextBox 30"/>
          <p:cNvSpPr txBox="1"/>
          <p:nvPr/>
        </p:nvSpPr>
        <p:spPr>
          <a:xfrm>
            <a:off x="10241280" y="6473952"/>
            <a:ext cx="1417320" cy="256032"/>
          </a:xfrm>
          <a:prstGeom prst="rect">
            <a:avLst/>
          </a:prstGeom>
          <a:noFill/>
        </p:spPr>
        <p:txBody>
          <a:bodyPr wrap="square" lIns="0" rIns="0" tIns="0" bIns="0"/>
          <a:lstStyle/>
          <a:p>
            <a:pPr algn="r">
              <a:spcAft>
                <a:spcPts val="0"/>
              </a:spcAft>
            </a:pPr>
            <a:r>
              <a:rPr sz="1100" b="0">
                <a:solidFill>
                  <a:srgbClr val="5E7482"/>
                </a:solidFill>
                <a:latin typeface="Calibri"/>
              </a:rPr>
              <a:t>12  /  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RUPSA NEXT — Parent and Guardian mobile</dc:title>
  <dc:subject>What the parent and guardian module does on the phone</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